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71" r:id="rId3"/>
    <p:sldId id="257" r:id="rId4"/>
    <p:sldId id="258" r:id="rId5"/>
    <p:sldId id="259" r:id="rId6"/>
    <p:sldId id="261" r:id="rId7"/>
    <p:sldId id="260" r:id="rId8"/>
    <p:sldId id="263" r:id="rId9"/>
    <p:sldId id="262" r:id="rId10"/>
    <p:sldId id="264" r:id="rId11"/>
    <p:sldId id="267" r:id="rId12"/>
    <p:sldId id="274" r:id="rId13"/>
    <p:sldId id="265" r:id="rId14"/>
    <p:sldId id="266" r:id="rId15"/>
    <p:sldId id="268" r:id="rId16"/>
    <p:sldId id="275" r:id="rId17"/>
    <p:sldId id="269" r:id="rId18"/>
    <p:sldId id="276" r:id="rId19"/>
    <p:sldId id="277" r:id="rId20"/>
    <p:sldId id="278" r:id="rId21"/>
    <p:sldId id="279" r:id="rId22"/>
    <p:sldId id="280" r:id="rId23"/>
    <p:sldId id="270" r:id="rId24"/>
    <p:sldId id="281" r:id="rId25"/>
    <p:sldId id="282" r:id="rId26"/>
    <p:sldId id="273" r:id="rId27"/>
  </p:sldIdLst>
  <p:sldSz cx="9144000" cy="6858000" type="screen4x3"/>
  <p:notesSz cx="6858000" cy="99472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9" autoAdjust="0"/>
    <p:restoredTop sz="94660"/>
  </p:normalViewPr>
  <p:slideViewPr>
    <p:cSldViewPr>
      <p:cViewPr varScale="1">
        <p:scale>
          <a:sx n="84" d="100"/>
          <a:sy n="84" d="100"/>
        </p:scale>
        <p:origin x="102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E8C81-EC62-4D59-9E5C-81B2A3BFE3A0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67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B4AE7-16F6-42AC-B7EC-F43341B26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177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163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E5C914-6FDA-4CC3-86A4-DDBC66C57BDA}" type="slidenum">
              <a:rPr lang="ru-RU" altLang="ru-RU">
                <a:solidFill>
                  <a:srgbClr val="000000"/>
                </a:solidFill>
                <a:latin typeface="Calibri" pitchFamily="34" charset="0"/>
              </a:rPr>
              <a:pPr/>
              <a:t>1</a:t>
            </a:fld>
            <a:endParaRPr lang="ru-RU" altLang="ru-RU">
              <a:solidFill>
                <a:srgbClr val="00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19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50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06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53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5603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84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49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36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72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92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430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F60746-F733-4B51-AAF3-FF8854C1AAA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2950424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825B9FE-70AC-4E58-BFEF-616342F2D67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9635611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5742FB3-7D8E-40E3-ADFD-875EFAD5101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634681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EBFDB7-71F8-4052-ACE3-E4B9FD6F489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762061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1C346E-A56F-4730-8771-1E17BFB5521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6389561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9BFD73-71D6-4A32-A723-A54F4118781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6443808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F9F4BD-1E6E-46FF-972A-F531424377F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762443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D2EFA0-ADBD-4997-928D-FBD1B06A78B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2902388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7E168FE-0D1D-4C45-84CC-D3F9DF0522B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983068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AFC614-51DC-4281-B92E-548E5865F0C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75295251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B0BB28D-F474-4B8A-A3D1-8E9B40B5F56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6605447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D5C93-7534-483E-AD96-F04B88648661}" type="datetimeFigureOut">
              <a:rPr lang="ru-RU" smtClean="0"/>
              <a:t>07.06.2024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868D0-3D6E-46D4-88D0-188E65EDEC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8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AAD8CC"/>
            </a:gs>
            <a:gs pos="100000">
              <a:srgbClr val="3C8C93"/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D5A57A-D7E4-4C50-B34B-2E8271CFD5E8}" type="slidenum">
              <a:rPr lang="ru-RU" altLang="ru-RU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altLang="ru-RU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05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biblioclub.ru/index.php?page=book&amp;id=45393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.ru/book/932049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dviser.ru/index.php/%D0%9F%D1%80%D0%BE%D0%B4%D1%83%D0%BA%D1%82:Microsoft_SQL_Server" TargetMode="External"/><Relationship Id="rId2" Type="http://schemas.openxmlformats.org/officeDocument/2006/relationships/hyperlink" Target="https://ru.wikipedia.org/wiki/Microsoft_Visual_Studio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2916238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0000"/>
                </a:srgbClr>
              </a:gs>
              <a:gs pos="50000">
                <a:srgbClr val="003399">
                  <a:gamma/>
                  <a:tint val="66667"/>
                  <a:invGamma/>
                </a:srgbClr>
              </a:gs>
              <a:gs pos="100000">
                <a:srgbClr val="003399"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628775"/>
          </a:xfrm>
          <a:prstGeom prst="rect">
            <a:avLst/>
          </a:prstGeom>
          <a:gradFill rotWithShape="1">
            <a:gsLst>
              <a:gs pos="0">
                <a:srgbClr val="000080">
                  <a:alpha val="58000"/>
                </a:srgbClr>
              </a:gs>
              <a:gs pos="50000">
                <a:srgbClr val="000080">
                  <a:gamma/>
                  <a:tint val="53333"/>
                  <a:invGamma/>
                </a:srgbClr>
              </a:gs>
              <a:gs pos="100000">
                <a:srgbClr val="000080">
                  <a:alpha val="58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ru-RU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13320" name="Picture 4" descr="новый логотип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22320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 Box 5"/>
          <p:cNvSpPr txBox="1">
            <a:spLocks noChangeArrowheads="1"/>
          </p:cNvSpPr>
          <p:nvPr/>
        </p:nvSpPr>
        <p:spPr bwMode="auto">
          <a:xfrm>
            <a:off x="3132138" y="352425"/>
            <a:ext cx="57610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FFFFFF"/>
                </a:solidFill>
                <a:latin typeface="Bookman Old Style" pitchFamily="18" charset="0"/>
              </a:rPr>
              <a:t>БПОУ РА «ГОРНО-АЛТАЙСКИЙ ГОСУДАРСТВЕННЫЙ ПОЛИТЕХНИЧЕСКИЙ КОЛЛЕДЖ </a:t>
            </a:r>
            <a:r>
              <a:rPr lang="ru-RU" altLang="ru-RU" b="1" dirty="0" err="1">
                <a:solidFill>
                  <a:srgbClr val="FFFFFF"/>
                </a:solidFill>
                <a:latin typeface="Bookman Old Style" pitchFamily="18" charset="0"/>
              </a:rPr>
              <a:t>им.М.З.Гнездилова</a:t>
            </a:r>
            <a:r>
              <a:rPr lang="ru-RU" altLang="ru-RU" b="1" dirty="0">
                <a:solidFill>
                  <a:srgbClr val="FFFFFF"/>
                </a:solidFill>
                <a:latin typeface="Bookman Old Style" pitchFamily="18" charset="0"/>
              </a:rPr>
              <a:t>»</a:t>
            </a:r>
          </a:p>
        </p:txBody>
      </p:sp>
      <p:sp>
        <p:nvSpPr>
          <p:cNvPr id="13322" name="Text Box 8"/>
          <p:cNvSpPr txBox="1">
            <a:spLocks noChangeArrowheads="1"/>
          </p:cNvSpPr>
          <p:nvPr/>
        </p:nvSpPr>
        <p:spPr bwMode="auto">
          <a:xfrm>
            <a:off x="179388" y="3908425"/>
            <a:ext cx="252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ru-RU">
                <a:solidFill>
                  <a:srgbClr val="FFFFFF"/>
                </a:solidFill>
              </a:rPr>
              <a:t> </a:t>
            </a:r>
            <a:endParaRPr lang="ru-RU" altLang="ru-RU" sz="2400" b="1">
              <a:solidFill>
                <a:srgbClr val="FFFFFF"/>
              </a:solidFill>
            </a:endParaRPr>
          </a:p>
        </p:txBody>
      </p:sp>
      <p:sp>
        <p:nvSpPr>
          <p:cNvPr id="13323" name="TextBox 8"/>
          <p:cNvSpPr txBox="1">
            <a:spLocks noChangeArrowheads="1"/>
          </p:cNvSpPr>
          <p:nvPr/>
        </p:nvSpPr>
        <p:spPr bwMode="auto">
          <a:xfrm>
            <a:off x="3586163" y="3357563"/>
            <a:ext cx="52562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800" b="1" dirty="0">
                <a:solidFill>
                  <a:srgbClr val="333399"/>
                </a:solidFill>
              </a:rPr>
              <a:t>Оформление курсовых </a:t>
            </a:r>
            <a:br>
              <a:rPr lang="ru-RU" altLang="ru-RU" sz="2800" b="1" dirty="0">
                <a:solidFill>
                  <a:srgbClr val="333399"/>
                </a:solidFill>
              </a:rPr>
            </a:br>
            <a:r>
              <a:rPr lang="ru-RU" altLang="ru-RU" sz="2800" b="1" dirty="0">
                <a:solidFill>
                  <a:srgbClr val="333399"/>
                </a:solidFill>
              </a:rPr>
              <a:t>и дипломных работ </a:t>
            </a:r>
            <a:br>
              <a:rPr lang="ru-RU" altLang="ru-RU" sz="2800" b="1" dirty="0">
                <a:solidFill>
                  <a:srgbClr val="333399"/>
                </a:solidFill>
              </a:rPr>
            </a:br>
            <a:r>
              <a:rPr lang="ru-RU" altLang="ru-RU" sz="2800" b="1" dirty="0">
                <a:solidFill>
                  <a:srgbClr val="333399"/>
                </a:solidFill>
              </a:rPr>
              <a:t>и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84182379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требования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  <a:latin typeface="Times New Roman"/>
                <a:ea typeface="Times New Roman"/>
              </a:rPr>
              <a:t>текст печатается на одной стороне листа белой бумаги формата А4 без рамок</a:t>
            </a:r>
          </a:p>
          <a:p>
            <a:r>
              <a:rPr lang="ru-RU" dirty="0">
                <a:effectLst/>
                <a:latin typeface="Times New Roman"/>
                <a:ea typeface="Times New Roman"/>
              </a:rPr>
              <a:t>расстояние между строчками сплошного текста полтора интервала</a:t>
            </a:r>
          </a:p>
          <a:p>
            <a:r>
              <a:rPr lang="ru-RU" dirty="0">
                <a:effectLst/>
                <a:latin typeface="Times New Roman"/>
                <a:ea typeface="Times New Roman"/>
              </a:rPr>
              <a:t>размер шрифта кегль 14пт, в таблицах допускается  кегль 12пт</a:t>
            </a:r>
          </a:p>
          <a:p>
            <a:r>
              <a:rPr lang="ru-RU" dirty="0">
                <a:effectLst/>
                <a:latin typeface="Times New Roman"/>
                <a:ea typeface="Times New Roman"/>
              </a:rPr>
              <a:t>шрифт -  </a:t>
            </a:r>
            <a:r>
              <a:rPr lang="ru-RU" dirty="0" err="1">
                <a:effectLst/>
                <a:latin typeface="Times New Roman"/>
                <a:ea typeface="Times New Roman"/>
              </a:rPr>
              <a:t>Times</a:t>
            </a:r>
            <a:r>
              <a:rPr lang="ru-RU" dirty="0">
                <a:effectLst/>
                <a:latin typeface="Times New Roman"/>
                <a:ea typeface="Times New Roman"/>
              </a:rPr>
              <a:t> </a:t>
            </a:r>
            <a:r>
              <a:rPr lang="ru-RU" dirty="0" err="1">
                <a:effectLst/>
                <a:latin typeface="Times New Roman"/>
                <a:ea typeface="Times New Roman"/>
              </a:rPr>
              <a:t>New</a:t>
            </a:r>
            <a:r>
              <a:rPr lang="ru-RU" dirty="0">
                <a:effectLst/>
                <a:latin typeface="Times New Roman"/>
                <a:ea typeface="Times New Roman"/>
              </a:rPr>
              <a:t> </a:t>
            </a:r>
            <a:r>
              <a:rPr lang="ru-RU" dirty="0" err="1">
                <a:effectLst/>
                <a:latin typeface="Times New Roman"/>
                <a:ea typeface="Times New Roman"/>
              </a:rPr>
              <a:t>Roman</a:t>
            </a:r>
            <a:endParaRPr lang="ru-RU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350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78098"/>
          </a:xfrm>
        </p:spPr>
        <p:txBody>
          <a:bodyPr>
            <a:normAutofit/>
          </a:bodyPr>
          <a:lstStyle/>
          <a:p>
            <a:r>
              <a:rPr lang="ru-RU" dirty="0"/>
              <a:t>Размеры полей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647292"/>
            <a:ext cx="5760938" cy="6147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8604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Абзацные отступы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717032"/>
            <a:ext cx="8229600" cy="2409131"/>
          </a:xfrm>
        </p:spPr>
        <p:txBody>
          <a:bodyPr/>
          <a:lstStyle/>
          <a:p>
            <a:r>
              <a:rPr lang="ru-RU" dirty="0"/>
              <a:t>Абзацы печатают с отступом в пять знаков от начала строки или на расстоянии, равном 12, 5 - 15 мм.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2" y="1430085"/>
            <a:ext cx="19111713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2" y="2284128"/>
            <a:ext cx="19230923" cy="59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900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Структурные элементы  текстового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853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/>
                <a:ea typeface="Times New Roman"/>
              </a:rPr>
              <a:t>    ОГЛАВЛЕНИЕ (СОДЕРЖАНИЕ)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/>
                <a:ea typeface="Times New Roman"/>
              </a:rPr>
              <a:t>    ВВЕДЕНИЕ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/>
                <a:ea typeface="Times New Roman"/>
              </a:rPr>
              <a:t>    ОСНОВНАЯ ЧАСТЬ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/>
                <a:ea typeface="Times New Roman"/>
              </a:rPr>
              <a:t>    ЗАКЛЮЧЕНИЕ (ВЫВОДЫ)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/>
                <a:ea typeface="Times New Roman"/>
              </a:rPr>
              <a:t>    СПИСОК ИСПОЛЬЗОВАННЫХ ИСТОЧНИКОВ</a:t>
            </a:r>
          </a:p>
          <a:p>
            <a:pPr marL="0" indent="0">
              <a:buNone/>
            </a:pPr>
            <a:r>
              <a:rPr lang="ru-RU" dirty="0">
                <a:latin typeface="Times New Roman"/>
                <a:ea typeface="Times New Roman"/>
              </a:rPr>
              <a:t>    ПРИЛОЖЕНИЕ А</a:t>
            </a:r>
            <a:endParaRPr lang="ru-RU" dirty="0">
              <a:effectLst/>
              <a:latin typeface="Times New Roman"/>
              <a:ea typeface="Times New Roman"/>
            </a:endParaRPr>
          </a:p>
          <a:p>
            <a:pPr marL="0" indent="0" algn="ctr">
              <a:buNone/>
            </a:pPr>
            <a:endParaRPr lang="ru-RU" dirty="0">
              <a:effectLst/>
              <a:latin typeface="Times New Roman"/>
              <a:ea typeface="Times New Roman"/>
            </a:endParaRPr>
          </a:p>
          <a:p>
            <a:pPr marL="0" indent="0" algn="ctr">
              <a:buNone/>
            </a:pPr>
            <a:r>
              <a:rPr lang="ru-RU" sz="3500" dirty="0">
                <a:effectLst/>
                <a:latin typeface="Times New Roman" pitchFamily="18" charset="0"/>
                <a:ea typeface="Times New Roman"/>
                <a:cs typeface="Times New Roman" pitchFamily="18" charset="0"/>
              </a:rPr>
              <a:t>Располагаются по центру </a:t>
            </a:r>
            <a:r>
              <a:rPr lang="ru-RU" sz="3500" dirty="0">
                <a:latin typeface="Times New Roman" pitchFamily="18" charset="0"/>
                <a:cs typeface="Times New Roman" pitchFamily="18" charset="0"/>
              </a:rPr>
              <a:t>прописными буквами </a:t>
            </a:r>
          </a:p>
          <a:p>
            <a:pPr marL="0" indent="0" algn="ctr">
              <a:buNone/>
            </a:pPr>
            <a:r>
              <a:rPr lang="ru-RU" sz="3500" dirty="0">
                <a:latin typeface="Times New Roman" pitchFamily="18" charset="0"/>
                <a:cs typeface="Times New Roman" pitchFamily="18" charset="0"/>
              </a:rPr>
              <a:t>без точки в конце, не подчеркивая и не нумеруя. Размер шрифта 18пт</a:t>
            </a:r>
            <a:endParaRPr lang="ru-RU" sz="3500" dirty="0"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endParaRPr lang="ru-RU" sz="35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3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u="sng" dirty="0"/>
              <a:t>Оглавление</a:t>
            </a:r>
            <a:r>
              <a:rPr lang="ru-RU" dirty="0"/>
              <a:t> - этот термин применяется в качестве указателя частей, рубрик работы, связанных по содержанию между собой. </a:t>
            </a:r>
          </a:p>
          <a:p>
            <a:r>
              <a:rPr lang="ru-RU" b="1" i="1" u="sng" dirty="0">
                <a:solidFill>
                  <a:schemeClr val="tx2">
                    <a:lumMod val="75000"/>
                  </a:schemeClr>
                </a:solidFill>
              </a:rPr>
              <a:t>Содержание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 - этот термин применяется в тех случаях, когда работа содержит несколько не связанных между собой научных трудов одного или нескольких авторов.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7336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34413"/>
            <a:ext cx="8280920" cy="526293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sz="3500" dirty="0">
                <a:latin typeface="Times New Roman"/>
                <a:ea typeface="Times New Roman"/>
              </a:rPr>
              <a:t>1 Общая часть(Теоретическая)</a:t>
            </a:r>
            <a:endParaRPr lang="ru-RU" sz="3500" dirty="0">
              <a:effectLst/>
              <a:latin typeface="Times New Roman"/>
              <a:ea typeface="Times New Roman"/>
            </a:endParaRP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sz="3500" dirty="0">
                <a:latin typeface="Times New Roman"/>
                <a:ea typeface="Times New Roman"/>
              </a:rPr>
              <a:t>2 Специальная часть(Практическая)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pPr marL="0" lvl="0" indent="0" algn="ctr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Названия разделов: первая буква – прописная, остальные – строчные. Кегль 18 </a:t>
            </a:r>
            <a:r>
              <a:rPr lang="ru-RU" dirty="0" err="1">
                <a:effectLst/>
                <a:latin typeface="Times New Roman"/>
                <a:ea typeface="Times New Roman"/>
              </a:rPr>
              <a:t>пт</a:t>
            </a:r>
            <a:endParaRPr lang="ru-RU" dirty="0">
              <a:effectLst/>
              <a:latin typeface="Times New Roman"/>
              <a:ea typeface="Times New Roman"/>
            </a:endParaRPr>
          </a:p>
          <a:p>
            <a:pPr lvl="0" algn="just">
              <a:lnSpc>
                <a:spcPct val="150000"/>
              </a:lnSpc>
              <a:buFont typeface="Times New Roman"/>
              <a:buChar char="–"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184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Подразделы, пункты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605339"/>
            <a:ext cx="8712968" cy="525780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1.2  Анализ средств программирования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dirty="0">
                <a:latin typeface="Times New Roman"/>
                <a:ea typeface="Times New Roman"/>
              </a:rPr>
              <a:t>1.2.1  Обзор методов решения</a:t>
            </a:r>
            <a:endParaRPr lang="ru-RU" dirty="0">
              <a:effectLst/>
              <a:latin typeface="Times New Roman"/>
              <a:ea typeface="Times New Roman"/>
            </a:endParaRP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Название подразделов, пунктов: </a:t>
            </a:r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первая буква - прописная,  остальные - строчные </a:t>
            </a:r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размер шрифта  16 </a:t>
            </a:r>
            <a:r>
              <a:rPr lang="ru-RU" dirty="0" err="1">
                <a:effectLst/>
                <a:latin typeface="Times New Roman"/>
                <a:ea typeface="Times New Roman"/>
              </a:rPr>
              <a:t>пт</a:t>
            </a:r>
            <a:r>
              <a:rPr lang="ru-RU" dirty="0">
                <a:effectLst/>
                <a:latin typeface="Times New Roman"/>
                <a:ea typeface="Times New Roman"/>
              </a:rPr>
              <a:t>;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648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Подпункты, заголовки таблиц рисунков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84784"/>
            <a:ext cx="8712968" cy="5257800"/>
          </a:xfrm>
        </p:spPr>
        <p:txBody>
          <a:bodyPr>
            <a:normAutofit lnSpcReduction="10000"/>
          </a:bodyPr>
          <a:lstStyle/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sz="2800" dirty="0">
                <a:effectLst/>
                <a:latin typeface="Times New Roman"/>
                <a:ea typeface="Times New Roman"/>
              </a:rPr>
              <a:t>2.1.2.2 Требования к аппаратным и программным средствам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pPr marL="0" lvl="0" indent="0" algn="ctr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Заголовки подпунктов, таблиц, рисунков: </a:t>
            </a:r>
          </a:p>
          <a:p>
            <a:pPr marL="0" lvl="0" indent="0" algn="ctr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ru-RU" dirty="0">
                <a:effectLst/>
                <a:latin typeface="Times New Roman"/>
                <a:ea typeface="Times New Roman"/>
              </a:rPr>
              <a:t>первая буква – прописная, остальные – строчные.</a:t>
            </a:r>
            <a:br>
              <a:rPr lang="ru-RU" dirty="0">
                <a:effectLst/>
                <a:latin typeface="Times New Roman"/>
                <a:ea typeface="Times New Roman"/>
              </a:rPr>
            </a:br>
            <a:r>
              <a:rPr lang="ru-RU" dirty="0">
                <a:effectLst/>
                <a:latin typeface="Times New Roman"/>
                <a:ea typeface="Times New Roman"/>
              </a:rPr>
              <a:t> размер шрифта 14 </a:t>
            </a:r>
            <a:r>
              <a:rPr lang="ru-RU" dirty="0" err="1">
                <a:effectLst/>
                <a:latin typeface="Times New Roman"/>
                <a:ea typeface="Times New Roman"/>
              </a:rPr>
              <a:t>пт</a:t>
            </a:r>
            <a:r>
              <a:rPr lang="ru-RU" dirty="0">
                <a:effectLst/>
                <a:latin typeface="Times New Roman"/>
                <a:ea typeface="Times New Roman"/>
              </a:rPr>
              <a:t>;</a:t>
            </a:r>
          </a:p>
          <a:p>
            <a:pPr lvl="0" algn="just">
              <a:lnSpc>
                <a:spcPct val="150000"/>
              </a:lnSpc>
              <a:buFont typeface="Times New Roman"/>
              <a:buChar char="–"/>
              <a:tabLst>
                <a:tab pos="685800" algn="l"/>
              </a:tabLst>
            </a:pPr>
            <a:endParaRPr lang="ru-RU" dirty="0">
              <a:effectLst/>
              <a:latin typeface="Times New Roman"/>
              <a:ea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61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Расположение заголовков и подзаголовков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2818656" cy="45259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62" r="6031" b="15775"/>
          <a:stretch/>
        </p:blipFill>
        <p:spPr bwMode="auto">
          <a:xfrm>
            <a:off x="10116616" y="1325134"/>
            <a:ext cx="8064896" cy="692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0" t="-4359" r="-1918" b="4359"/>
          <a:stretch/>
        </p:blipFill>
        <p:spPr bwMode="auto">
          <a:xfrm>
            <a:off x="323528" y="1389143"/>
            <a:ext cx="8572500" cy="4736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341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Нумерация страниц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Страницы текстового документа следует нумеровать арабскими цифрами, соблюдая сквозную нумерацию по всему тексту вместе с приложениями.</a:t>
            </a:r>
          </a:p>
          <a:p>
            <a:r>
              <a:rPr lang="ru-RU" dirty="0"/>
              <a:t>Титульный лист, лист «Задание» (для курсовых проектов (работ) и ВКР не  нумеруются, но в общем объеме документа учитываются. Номера листов начинают проставлять с листа «СОДЕРЖАНИЕ» (3 страница). </a:t>
            </a:r>
            <a:br>
              <a:rPr lang="ru-RU" dirty="0"/>
            </a:br>
            <a:r>
              <a:rPr lang="ru-RU" dirty="0"/>
              <a:t>Номер страницы ставится </a:t>
            </a:r>
            <a:br>
              <a:rPr lang="ru-RU" dirty="0"/>
            </a:br>
            <a:r>
              <a:rPr lang="ru-RU" dirty="0"/>
              <a:t>в </a:t>
            </a:r>
            <a:r>
              <a:rPr lang="ru-RU" b="1" dirty="0"/>
              <a:t>центре</a:t>
            </a:r>
            <a:r>
              <a:rPr lang="ru-RU" dirty="0"/>
              <a:t> нижней части листа без точки.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6289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r>
              <a:rPr lang="ru-RU" dirty="0"/>
              <a:t>Оформление таблиц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968923" y="1412776"/>
            <a:ext cx="66300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3771900" algn="l"/>
                <a:tab pos="7651750" algn="l"/>
              </a:tabLst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	Таблица 1 – Тематический заголовок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  <a:tab pos="914400" algn="l"/>
                <a:tab pos="3771900" algn="l"/>
                <a:tab pos="7651750" algn="l"/>
              </a:tabLst>
            </a:pP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" name="Объект 1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428034"/>
              </p:ext>
            </p:extLst>
          </p:nvPr>
        </p:nvGraphicFramePr>
        <p:xfrm>
          <a:off x="0" y="1988840"/>
          <a:ext cx="9144002" cy="253155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43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29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9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Головка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Наименование боковика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Заголовок графы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Заголовок графы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подзаголовок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графы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подзаголовок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графы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подзаголовок 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400" dirty="0">
                          <a:effectLst/>
                          <a:latin typeface="Times New Roman"/>
                          <a:ea typeface="Times New Roman"/>
                        </a:rPr>
                        <a:t>графы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Строки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Основная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(горизонтальные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часть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ряды)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571500" algn="l"/>
                          <a:tab pos="914400" algn="l"/>
                          <a:tab pos="3771900" algn="l"/>
                          <a:tab pos="7651115" algn="l"/>
                        </a:tabLst>
                      </a:pPr>
                      <a:r>
                        <a:rPr lang="ru-RU" sz="1600" dirty="0"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67544" y="5034272"/>
            <a:ext cx="856895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таблицах допускается  кегль 12пт. Шрифт - 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Times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Roman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Ссылка в тексте на таблицу обязательна и оформляется следующим образом: «Приведенные в таблице 1 данные указывают на ...» </a:t>
            </a:r>
          </a:p>
          <a:p>
            <a:pPr algn="ctr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или «Производится расчет показателей … (см. табл. 1)».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4353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Оформление рисунков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73" y="5460173"/>
            <a:ext cx="9144000" cy="139782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Рисунок  2 - Схема данных</a:t>
            </a:r>
          </a:p>
          <a:p>
            <a:pPr marL="0" indent="0" algn="ctr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Ссылка на рисунок «На рисунке 2 показано ……….» или «……точка, лежащая на прямой (см. рис. 6)».</a:t>
            </a:r>
          </a:p>
          <a:p>
            <a:pPr marL="0" indent="0" algn="ctr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1192240"/>
            <a:ext cx="7272807" cy="4267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971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источников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нормативные акты;</a:t>
            </a:r>
          </a:p>
          <a:p>
            <a:r>
              <a:rPr lang="ru-RU" dirty="0"/>
              <a:t>книги;</a:t>
            </a:r>
          </a:p>
          <a:p>
            <a:r>
              <a:rPr lang="ru-RU" dirty="0"/>
              <a:t>печатная периодика;</a:t>
            </a:r>
          </a:p>
          <a:p>
            <a:r>
              <a:rPr lang="ru-RU" dirty="0"/>
              <a:t>источники на электронных носителях локального доступа;</a:t>
            </a:r>
          </a:p>
          <a:p>
            <a:r>
              <a:rPr lang="ru-RU" dirty="0"/>
              <a:t>источники на электронных носителях удаленного доступа (т.е. интернет-источники).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7426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0"/>
            <a:ext cx="9036496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Список использованных источников: нормативные акты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26360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ru-RU" sz="2400" dirty="0"/>
              <a:t>международные акты, ратифицированные Россией, причем сначала идут документы ООН;</a:t>
            </a:r>
            <a:endParaRPr lang="ru-RU" dirty="0"/>
          </a:p>
          <a:p>
            <a:pPr lvl="1"/>
            <a:r>
              <a:rPr lang="ru-RU" sz="2400" dirty="0"/>
              <a:t>Конституция России;</a:t>
            </a:r>
            <a:endParaRPr lang="ru-RU" dirty="0"/>
          </a:p>
          <a:p>
            <a:pPr lvl="1"/>
            <a:r>
              <a:rPr lang="ru-RU" sz="2400" dirty="0"/>
              <a:t>кодексы;</a:t>
            </a:r>
            <a:endParaRPr lang="ru-RU" dirty="0"/>
          </a:p>
          <a:p>
            <a:pPr lvl="1"/>
            <a:r>
              <a:rPr lang="ru-RU" sz="2400" dirty="0"/>
              <a:t>федеральные законы;</a:t>
            </a:r>
            <a:endParaRPr lang="ru-RU" dirty="0"/>
          </a:p>
          <a:p>
            <a:pPr lvl="1"/>
            <a:r>
              <a:rPr lang="ru-RU" sz="2400" dirty="0"/>
              <a:t>указы Президента России;</a:t>
            </a:r>
            <a:endParaRPr lang="ru-RU" dirty="0"/>
          </a:p>
          <a:p>
            <a:pPr lvl="1"/>
            <a:r>
              <a:rPr lang="ru-RU" sz="2400" dirty="0"/>
              <a:t>постановления Правительства России;</a:t>
            </a:r>
            <a:endParaRPr lang="ru-RU" dirty="0"/>
          </a:p>
          <a:p>
            <a:pPr lvl="1"/>
            <a:r>
              <a:rPr lang="ru-RU" sz="2400" dirty="0"/>
              <a:t>приказы, письма и пр. указания отдельных федеральных министерств и ведомств;</a:t>
            </a:r>
            <a:endParaRPr lang="ru-RU" dirty="0"/>
          </a:p>
          <a:p>
            <a:pPr lvl="1"/>
            <a:r>
              <a:rPr lang="ru-RU" sz="2400" dirty="0"/>
              <a:t>законы субъектов России;</a:t>
            </a:r>
            <a:endParaRPr lang="ru-RU" dirty="0"/>
          </a:p>
          <a:p>
            <a:pPr lvl="1"/>
            <a:r>
              <a:rPr lang="ru-RU" sz="2400" dirty="0"/>
              <a:t>распоряжения губернаторов;</a:t>
            </a:r>
            <a:endParaRPr lang="ru-RU" dirty="0"/>
          </a:p>
          <a:p>
            <a:pPr lvl="1"/>
            <a:r>
              <a:rPr lang="ru-RU" sz="2400" dirty="0"/>
              <a:t>распоряжения областных (республиканских) правительств;</a:t>
            </a:r>
            <a:endParaRPr lang="ru-RU" dirty="0"/>
          </a:p>
          <a:p>
            <a:pPr lvl="1"/>
            <a:r>
              <a:rPr lang="ru-RU" sz="2400" dirty="0"/>
              <a:t>судебная практика (т.е. постановления Верховного и прочих судов России);</a:t>
            </a:r>
            <a:endParaRPr lang="ru-RU" dirty="0"/>
          </a:p>
          <a:p>
            <a:pPr lvl="1"/>
            <a:r>
              <a:rPr lang="ru-RU" sz="2400" dirty="0"/>
              <a:t>законодательные акты, утратившие силу.</a:t>
            </a:r>
            <a:endParaRPr lang="ru-RU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2978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03284" y="-99392"/>
            <a:ext cx="9324528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оформления печатных изданий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136" y="2037041"/>
            <a:ext cx="8671864" cy="452596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Белкина, Т. Л. Современное православие : учебное пособие / Т. Л. Белкина. – Москва : ИНФРА-М, 2016. – 108 с. – ISBN 978-5- 3690-1487-5.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/>
              <a:t>Дадалко</a:t>
            </a:r>
            <a:r>
              <a:rPr lang="ru-RU" dirty="0"/>
              <a:t>, В. А. </a:t>
            </a:r>
            <a:r>
              <a:rPr lang="ru-RU" dirty="0" err="1"/>
              <a:t>Наукометрический</a:t>
            </a:r>
            <a:r>
              <a:rPr lang="ru-RU" dirty="0"/>
              <a:t> аппарат исследований в сфере современного образования : монография / В. А. </a:t>
            </a:r>
            <a:r>
              <a:rPr lang="ru-RU" dirty="0" err="1"/>
              <a:t>Дадалко</a:t>
            </a:r>
            <a:r>
              <a:rPr lang="ru-RU" dirty="0"/>
              <a:t> ; Финансовый университет при Правительстве Российской Федерации. – Москва : ИНФРА-М, 2020. – 180 с. – ISBN 978-5-16-108217-1.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8939F9-0189-48C1-B5E7-CEF8566184F1}"/>
              </a:ext>
            </a:extLst>
          </p:cNvPr>
          <p:cNvSpPr/>
          <p:nvPr/>
        </p:nvSpPr>
        <p:spPr>
          <a:xfrm>
            <a:off x="107504" y="836712"/>
            <a:ext cx="8564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При описании книг с одним, двумя, тремя авторами, указываем одного автора в начале описания (в заголовок), остальных за косой чертой после заглавия</a:t>
            </a:r>
          </a:p>
        </p:txBody>
      </p:sp>
    </p:spTree>
    <p:extLst>
      <p:ext uri="{BB962C8B-B14F-4D97-AF65-F5344CB8AC3E}">
        <p14:creationId xmlns:p14="http://schemas.microsoft.com/office/powerpoint/2010/main" val="715298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9292126-501C-45DB-9DE7-DB16F3E1B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260648"/>
            <a:ext cx="8280920" cy="6336704"/>
          </a:xfrm>
        </p:spPr>
        <p:txBody>
          <a:bodyPr>
            <a:normAutofit fontScale="85000" lnSpcReduction="10000"/>
          </a:bodyPr>
          <a:lstStyle/>
          <a:p>
            <a:r>
              <a:rPr lang="ru-RU" sz="2800" b="1" i="1" dirty="0"/>
              <a:t>двух авторов</a:t>
            </a:r>
          </a:p>
          <a:p>
            <a:pPr marL="0" indent="0">
              <a:buNone/>
            </a:pPr>
            <a:r>
              <a:rPr lang="ru-RU" sz="2800" dirty="0" err="1"/>
              <a:t>Шангараев</a:t>
            </a:r>
            <a:r>
              <a:rPr lang="ru-RU" sz="2800" dirty="0"/>
              <a:t>, Р. Н. История экономики : учебное пособие : практикум / Р. Н. </a:t>
            </a:r>
            <a:r>
              <a:rPr lang="ru-RU" sz="2800" dirty="0" err="1"/>
              <a:t>Шангараев</a:t>
            </a:r>
            <a:r>
              <a:rPr lang="ru-RU" sz="2800" dirty="0"/>
              <a:t>, Т. А. Мустафин. – Москва : Сам полиграфист, 2018. – 124 с. – ISBN 978-5-00077-944-6.</a:t>
            </a:r>
          </a:p>
          <a:p>
            <a:pPr marL="0" indent="0">
              <a:buNone/>
            </a:pPr>
            <a:endParaRPr lang="ru-RU" sz="2800" dirty="0"/>
          </a:p>
          <a:p>
            <a:r>
              <a:rPr lang="ru-RU" sz="2800" b="1" i="1" dirty="0"/>
              <a:t>трех авторов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Гончаров, В. Д. Моделирование и прогнозирование агропромышленного комплекса / В. Д. Гончаров, С. Г. Сальников, А. Е. Петренко. – Хабаровск : Дальневосточный институт управления, 2018. – 116 с. – ISBN 978-5-6042601-4-2.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dirty="0" err="1"/>
              <a:t>Ступницкий</a:t>
            </a:r>
            <a:r>
              <a:rPr lang="ru-RU" sz="2800" dirty="0"/>
              <a:t>, В. П. Психология : учебник / В. П. </a:t>
            </a:r>
            <a:r>
              <a:rPr lang="ru-RU" sz="2800" dirty="0" err="1"/>
              <a:t>Ступницкий</a:t>
            </a:r>
            <a:r>
              <a:rPr lang="ru-RU" sz="2800" dirty="0"/>
              <a:t>, О. И. Щербакова, В. Е. Степанов. – Москва : Дашков и К, 2017. – 519 с. : ил. – (Учебные издания для бакалавров). – URL: </a:t>
            </a:r>
            <a:r>
              <a:rPr lang="ru-RU" sz="2800" dirty="0">
                <a:hlinkClick r:id="rId2"/>
              </a:rPr>
              <a:t>http://biblioclub.ru/index.php?page=book&amp;id=453939</a:t>
            </a:r>
            <a:r>
              <a:rPr lang="ru-RU" sz="2800" dirty="0"/>
              <a:t> (дата обращения: 20.12.2019). – ISBN 978-5-394-02063-6.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17557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2809057-8448-4427-A1AA-2A54FA77D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60648"/>
            <a:ext cx="8229600" cy="6597352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i="1" dirty="0"/>
              <a:t>четырех авторов</a:t>
            </a:r>
          </a:p>
          <a:p>
            <a:pPr marL="0" indent="0">
              <a:buNone/>
            </a:pPr>
            <a:r>
              <a:rPr lang="ru-RU" sz="2400" i="1" dirty="0"/>
              <a:t>Описание начинается с заглавия книги, если она написана четырьмя и более авторами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Антикоррупционный мониторинг как фактор обеспечения национальной безопасности : монография / Ю. Г. Наумов, Д. Л. Севастьянов, Ю. В. </a:t>
            </a:r>
            <a:r>
              <a:rPr lang="ru-RU" sz="2400" dirty="0" err="1"/>
              <a:t>Латов</a:t>
            </a:r>
            <a:r>
              <a:rPr lang="ru-RU" sz="2400" dirty="0"/>
              <a:t>, М. С. Русанов ; Академия управления МВД России. – Москва : Изд-во РГАУМСХА, 2019. – 133 с. – ISBN 978-5-9675-1688-7.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Задачи по финансовой математике : учебное пособие / П. Н. Брусов, П. П. Брусов, Н. П. Орехова, С. В. </a:t>
            </a:r>
            <a:r>
              <a:rPr lang="ru-RU" sz="2400" dirty="0" err="1"/>
              <a:t>Скородулина</a:t>
            </a:r>
            <a:r>
              <a:rPr lang="ru-RU" sz="2400" dirty="0"/>
              <a:t>. – Москва : </a:t>
            </a:r>
            <a:r>
              <a:rPr lang="ru-RU" sz="2400" dirty="0" err="1"/>
              <a:t>КноРус</a:t>
            </a:r>
            <a:r>
              <a:rPr lang="ru-RU" sz="2400" dirty="0"/>
              <a:t>, 2020. – 299 с. – URL: </a:t>
            </a:r>
            <a:r>
              <a:rPr lang="ru-RU" sz="2400" dirty="0">
                <a:hlinkClick r:id="rId2"/>
              </a:rPr>
              <a:t>https://book.ru/book/932049</a:t>
            </a:r>
            <a:r>
              <a:rPr lang="ru-RU" sz="2400" dirty="0"/>
              <a:t> (дата обращения: 20.12.2019). – ISBN 978-5-406-07289-9.</a:t>
            </a:r>
          </a:p>
          <a:p>
            <a:r>
              <a:rPr lang="ru-RU" sz="2400" b="1" i="1" dirty="0"/>
              <a:t>пяти и более авторов</a:t>
            </a:r>
          </a:p>
          <a:p>
            <a:pPr marL="0" indent="0">
              <a:buNone/>
            </a:pPr>
            <a:r>
              <a:rPr lang="ru-RU" sz="2400" i="1" dirty="0"/>
              <a:t>При наличии информации о пяти и более авторах приводят имена первых трех и в квадратных скобках сокращение «[и др.]»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Распределенные интеллектуальные информационные системы и среды : монография / А. Н. Швецов, А. А. Суконщиков, Д. В. Кочкин [и др.]. – Курск : Университетская книга, 2017. –196 с. – ISBN 978-5- 9909988-3-4.</a:t>
            </a:r>
          </a:p>
        </p:txBody>
      </p:sp>
    </p:spTree>
    <p:extLst>
      <p:ext uri="{BB962C8B-B14F-4D97-AF65-F5344CB8AC3E}">
        <p14:creationId xmlns:p14="http://schemas.microsoft.com/office/powerpoint/2010/main" val="1766141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7A758-C639-4B4D-9701-128E2509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Сборники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F69C01-2C3D-4687-8B02-46148A3F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Цифровая экономика : проблемы развития и механизмы решения : сборник статей международной научно-практической конференции, [Ижевск], 15 сентября 2019 г. / ответственный редактор А. А. </a:t>
            </a:r>
            <a:r>
              <a:rPr lang="ru-RU" dirty="0" err="1"/>
              <a:t>Сукиасян</a:t>
            </a:r>
            <a:r>
              <a:rPr lang="ru-RU" dirty="0"/>
              <a:t>. – Ижевск ; Уфа : </a:t>
            </a:r>
            <a:r>
              <a:rPr lang="ru-RU" dirty="0" err="1"/>
              <a:t>Аэтерна</a:t>
            </a:r>
            <a:r>
              <a:rPr lang="ru-RU" dirty="0"/>
              <a:t>, 2019. – 51 с. – ISBN 978-5- 00109-801-0.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5781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6C6ED-78D1-47CB-A808-7D78B53F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Законодательные материалы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AC9E1-C286-4089-AA9B-FC03D58F5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8661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Всеобщая декларация прав человека : принята Генеральной Ассамблеей ООН 10 декабря 1948 года // КонсультантПлюс : справочная правовая система. – Москва, 1997– . – </a:t>
            </a:r>
            <a:r>
              <a:rPr lang="ru-RU" dirty="0" err="1"/>
              <a:t>Загл</a:t>
            </a:r>
            <a:r>
              <a:rPr lang="ru-RU" dirty="0"/>
              <a:t>. с титул. экрана.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Российская Федерация. Законы. О несостоятельности (банкротстве) : Федеральный закон № 127-ФЗ : текст с изменениями и дополнениями на 2 декабря 2019 года : принят Государственной Думой 27 сентября 2002 года : одобрен Советом Федерации 16 октября 2002 года. – Москва : </a:t>
            </a:r>
            <a:r>
              <a:rPr lang="ru-RU" dirty="0" err="1"/>
              <a:t>Эксмо</a:t>
            </a:r>
            <a:r>
              <a:rPr lang="ru-RU" dirty="0"/>
              <a:t>, 2019. – 510 с. – ISBN 978-5-04-105596-7.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2656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9C6A4-FAFA-4869-950F-E4900C29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Стандарты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70FC3-91CC-4850-A6F4-9634CA88E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ГОСТ Р 7.0.100-2018. Библиографическая запись. Библиографическое описание. Общие требования и правила составления : национальный стандарт Российской Федерации : издание официальное : утвержден и введен в действие Приказом Федерального агентства по техническому регулированию и метрологии от 3 декабря 2018 года № 1050-ст : введен впервые : дата введения 2019-07-01 / подготовлен Информационным телеграфным агентством России, филиалом Российской книжной палаты, Российской государственной библиотекой, Российской национальной библиотекой. – Москва : </a:t>
            </a:r>
            <a:r>
              <a:rPr lang="ru-RU" dirty="0" err="1"/>
              <a:t>Стандартинформ</a:t>
            </a:r>
            <a:r>
              <a:rPr lang="ru-RU" dirty="0"/>
              <a:t>, 2018. – IV, 65 c. : табл.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58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Юридический советник [Электронный ресурс]. – 1 электрон. опт. диск (CD-ROM): </a:t>
            </a:r>
            <a:r>
              <a:rPr lang="ru-RU" dirty="0" err="1"/>
              <a:t>зв</a:t>
            </a:r>
            <a:r>
              <a:rPr lang="ru-RU" dirty="0"/>
              <a:t>., </a:t>
            </a:r>
            <a:r>
              <a:rPr lang="ru-RU" dirty="0" err="1"/>
              <a:t>цв</a:t>
            </a:r>
            <a:r>
              <a:rPr lang="ru-RU" dirty="0"/>
              <a:t>. – прил.: Справочник пользователя / сост. В.А. Быков. – 32 с.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Долгова, К.Н., Автономная настройка параллельных программ методом анализа модельных трасс //</a:t>
            </a:r>
            <a:r>
              <a:rPr lang="en-US" dirty="0"/>
              <a:t>http://lomonosov-msu.ru/archive/vestnik_20</a:t>
            </a:r>
            <a:r>
              <a:rPr lang="ru-RU" dirty="0"/>
              <a:t>1</a:t>
            </a:r>
            <a:r>
              <a:rPr lang="en-US" dirty="0"/>
              <a:t>7.pdf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 оформления электронных изданий</a:t>
            </a:r>
          </a:p>
        </p:txBody>
      </p:sp>
    </p:spTree>
    <p:extLst>
      <p:ext uri="{BB962C8B-B14F-4D97-AF65-F5344CB8AC3E}">
        <p14:creationId xmlns:p14="http://schemas.microsoft.com/office/powerpoint/2010/main" val="901358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C7F724B-28F2-498E-BE46-A0EFD70D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0477"/>
            <a:ext cx="8229600" cy="5937523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Мультимедийные электронные издания</a:t>
            </a:r>
          </a:p>
          <a:p>
            <a:pPr marL="0" indent="0">
              <a:buNone/>
            </a:pPr>
            <a:r>
              <a:rPr lang="ru-RU" dirty="0"/>
              <a:t>Иванова, Н. А. Грамматический словарь русского языка / Н. А. Иванова, М. В. Сидорова. – Москва : АСТ, 2005. – 1 CD-ROM. – </a:t>
            </a:r>
            <a:r>
              <a:rPr lang="ru-RU" dirty="0" err="1"/>
              <a:t>Загл</a:t>
            </a:r>
            <a:r>
              <a:rPr lang="ru-RU" dirty="0"/>
              <a:t>. с титул. экрана.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Компьютерные программы</a:t>
            </a:r>
          </a:p>
          <a:p>
            <a:pPr marL="0" indent="0">
              <a:buNone/>
            </a:pPr>
            <a:r>
              <a:rPr lang="ru-RU" dirty="0" err="1"/>
              <a:t>AutoCAD</a:t>
            </a:r>
            <a:r>
              <a:rPr lang="ru-RU" dirty="0"/>
              <a:t> : система автоматизированного проектирования / разработчик </a:t>
            </a:r>
            <a:r>
              <a:rPr lang="ru-RU" dirty="0" err="1"/>
              <a:t>Autodesk</a:t>
            </a:r>
            <a:r>
              <a:rPr lang="ru-RU" dirty="0"/>
              <a:t>. – Москва : 1С, 2019. – 1 СD-ROM. – (1С: Электронная дистрибьюция). – </a:t>
            </a:r>
            <a:r>
              <a:rPr lang="ru-RU" dirty="0" err="1"/>
              <a:t>Загл</a:t>
            </a:r>
            <a:r>
              <a:rPr lang="ru-RU" dirty="0"/>
              <a:t>. с титул. экрана. 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EA581E5-2990-4B93-AA22-474006B8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Электронные издания</a:t>
            </a:r>
          </a:p>
        </p:txBody>
      </p:sp>
    </p:spTree>
    <p:extLst>
      <p:ext uri="{BB962C8B-B14F-4D97-AF65-F5344CB8AC3E}">
        <p14:creationId xmlns:p14="http://schemas.microsoft.com/office/powerpoint/2010/main" val="3124106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6A9E2-BEF1-4404-8F56-BDE95C5C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E2709-2DE3-469D-BACE-8635008E6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Сайты в сети Интернет</a:t>
            </a:r>
            <a:endParaRPr lang="ru-RU" dirty="0"/>
          </a:p>
          <a:p>
            <a:pPr lvl="0"/>
            <a:r>
              <a:rPr lang="en-US" dirty="0"/>
              <a:t>Microsoft Visual Studio: [</a:t>
            </a:r>
            <a:r>
              <a:rPr lang="ru-RU" dirty="0"/>
              <a:t>сайт</a:t>
            </a:r>
            <a:r>
              <a:rPr lang="en-US" dirty="0"/>
              <a:t>]. - URL:  </a:t>
            </a:r>
            <a:r>
              <a:rPr lang="en-US" u="sng" dirty="0">
                <a:hlinkClick r:id="rId2"/>
              </a:rPr>
              <a:t>https://ru.wikipedia.org/wiki/Microsoft_Visual_Studio</a:t>
            </a:r>
            <a:r>
              <a:rPr lang="en-US" dirty="0"/>
              <a:t> (</a:t>
            </a:r>
            <a:r>
              <a:rPr lang="ru-RU" dirty="0"/>
              <a:t>дата обращения</a:t>
            </a:r>
            <a:r>
              <a:rPr lang="en-US" dirty="0"/>
              <a:t>: 25.05.2023)</a:t>
            </a:r>
            <a:endParaRPr lang="ru-RU" dirty="0"/>
          </a:p>
          <a:p>
            <a:pPr lvl="0"/>
            <a:r>
              <a:rPr lang="en-US" dirty="0"/>
              <a:t>Microsoft SQL Server: [</a:t>
            </a:r>
            <a:r>
              <a:rPr lang="ru-RU" dirty="0"/>
              <a:t>сайт</a:t>
            </a:r>
            <a:r>
              <a:rPr lang="en-US" dirty="0"/>
              <a:t>]. - URL: </a:t>
            </a:r>
            <a:r>
              <a:rPr lang="en-US" u="sng" dirty="0">
                <a:hlinkClick r:id="rId3"/>
              </a:rPr>
              <a:t>https://www.tadviser.ru/index.php/%D0%9F%D1%80%D0%BE%D0%B4%D1%83%D0%BA%D1%82:Microsoft_SQL_Server</a:t>
            </a:r>
            <a:r>
              <a:rPr lang="en-US" dirty="0"/>
              <a:t> (</a:t>
            </a:r>
            <a:r>
              <a:rPr lang="ru-RU" dirty="0"/>
              <a:t>дата обращения</a:t>
            </a:r>
            <a:r>
              <a:rPr lang="en-US" dirty="0"/>
              <a:t>: 15.03.2024)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98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Оформление Оглавления (содержания)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7" t="19941" r="21159" b="27232"/>
          <a:stretch/>
        </p:blipFill>
        <p:spPr bwMode="auto">
          <a:xfrm>
            <a:off x="395536" y="1340768"/>
            <a:ext cx="8502848" cy="5152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09324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Инф отдел (1)">
  <a:themeElements>
    <a:clrScheme name="1_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13623</TotalTime>
  <Words>1560</Words>
  <Application>Microsoft Office PowerPoint</Application>
  <PresentationFormat>Экран (4:3)</PresentationFormat>
  <Paragraphs>152</Paragraphs>
  <Slides>25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Bookman Old Style</vt:lpstr>
      <vt:lpstr>Calibri</vt:lpstr>
      <vt:lpstr>Times New Roman</vt:lpstr>
      <vt:lpstr>Тема Office</vt:lpstr>
      <vt:lpstr>Инф отдел (1)</vt:lpstr>
      <vt:lpstr>Презентация PowerPoint</vt:lpstr>
      <vt:lpstr>Общие требования</vt:lpstr>
      <vt:lpstr>Размеры полей</vt:lpstr>
      <vt:lpstr>Абзацные отступы </vt:lpstr>
      <vt:lpstr>Структурные элементы  текстового документа</vt:lpstr>
      <vt:lpstr>Презентация PowerPoint</vt:lpstr>
      <vt:lpstr>Разделы </vt:lpstr>
      <vt:lpstr>Подразделы, пункты</vt:lpstr>
      <vt:lpstr>Подпункты, заголовки таблиц рисунков </vt:lpstr>
      <vt:lpstr>Расположение заголовков и подзаголовков </vt:lpstr>
      <vt:lpstr>Нумерация страниц</vt:lpstr>
      <vt:lpstr>Оформление таблиц</vt:lpstr>
      <vt:lpstr>Оформление рисунков </vt:lpstr>
      <vt:lpstr>Список использованных источников </vt:lpstr>
      <vt:lpstr>Список использованных источников: нормативные акты </vt:lpstr>
      <vt:lpstr>Примеры оформления печатных изданий</vt:lpstr>
      <vt:lpstr>Презентация PowerPoint</vt:lpstr>
      <vt:lpstr>Презентация PowerPoint</vt:lpstr>
      <vt:lpstr>Сборники </vt:lpstr>
      <vt:lpstr>Законодательные материалы </vt:lpstr>
      <vt:lpstr>Стандарты </vt:lpstr>
      <vt:lpstr>Пример оформления электронных изданий</vt:lpstr>
      <vt:lpstr>Электронные издания</vt:lpstr>
      <vt:lpstr>Презентация PowerPoint</vt:lpstr>
      <vt:lpstr>Оформление Оглавления (содержания)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Оформление курсовых и дипломных работ и проектов</dc:title>
  <dc:creator>Раиса Рушановна</dc:creator>
  <cp:lastModifiedBy>Boss</cp:lastModifiedBy>
  <cp:revision>32</cp:revision>
  <cp:lastPrinted>2015-05-15T01:31:45Z</cp:lastPrinted>
  <dcterms:created xsi:type="dcterms:W3CDTF">2015-04-01T01:13:10Z</dcterms:created>
  <dcterms:modified xsi:type="dcterms:W3CDTF">2024-06-07T05:55:04Z</dcterms:modified>
</cp:coreProperties>
</file>