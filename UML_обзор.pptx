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9"/>
  </p:handout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80" r:id="rId16"/>
    <p:sldId id="277" r:id="rId17"/>
    <p:sldId id="278" r:id="rId18"/>
    <p:sldId id="285" r:id="rId19"/>
    <p:sldId id="286" r:id="rId20"/>
    <p:sldId id="287" r:id="rId21"/>
    <p:sldId id="279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281" r:id="rId35"/>
    <p:sldId id="282" r:id="rId36"/>
    <p:sldId id="283" r:id="rId37"/>
    <p:sldId id="284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C7C62C-6075-426B-B9CE-B65FA7FF71B9}">
          <p14:sldIdLst>
            <p14:sldId id="256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80"/>
            <p14:sldId id="277"/>
            <p14:sldId id="278"/>
            <p14:sldId id="285"/>
            <p14:sldId id="286"/>
            <p14:sldId id="287"/>
            <p14:sldId id="279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1F1F1"/>
    <a:srgbClr val="C6D4DF"/>
    <a:srgbClr val="3A5896"/>
    <a:srgbClr val="F3F0ED"/>
    <a:srgbClr val="E1DAD2"/>
    <a:srgbClr val="FEFEFE"/>
    <a:srgbClr val="C1C9CD"/>
    <a:srgbClr val="7C96A3"/>
    <a:srgbClr val="003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728" y="6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89E28-9DED-4845-A53C-45DECD8178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874B37A-FB30-4669-AE1E-C4BCB02B4E96}">
      <dgm:prSet phldrT="[Текст]"/>
      <dgm:spPr/>
      <dgm:t>
        <a:bodyPr/>
        <a:lstStyle/>
        <a:p>
          <a:r>
            <a:rPr lang="ru-RU" dirty="0" smtClean="0">
              <a:latin typeface="Akrobat ExtraBold" panose="00000900000000000000" pitchFamily="50" charset="-52"/>
            </a:rPr>
            <a:t>Проектирование</a:t>
          </a:r>
          <a:endParaRPr lang="ru-RU" dirty="0">
            <a:latin typeface="Akrobat ExtraBold" panose="00000900000000000000" pitchFamily="50" charset="-52"/>
          </a:endParaRPr>
        </a:p>
      </dgm:t>
    </dgm:pt>
    <dgm:pt modelId="{CDFE91C7-91A9-4395-BBD2-0D00B4ECFE0E}" type="parTrans" cxnId="{51E1A6BD-45A3-481A-A928-2C8BE9E1B39A}">
      <dgm:prSet/>
      <dgm:spPr/>
      <dgm:t>
        <a:bodyPr/>
        <a:lstStyle/>
        <a:p>
          <a:endParaRPr lang="ru-RU"/>
        </a:p>
      </dgm:t>
    </dgm:pt>
    <dgm:pt modelId="{445853A5-BC88-425F-BADF-8E35CD7021D4}" type="sibTrans" cxnId="{51E1A6BD-45A3-481A-A928-2C8BE9E1B39A}">
      <dgm:prSet/>
      <dgm:spPr/>
      <dgm:t>
        <a:bodyPr/>
        <a:lstStyle/>
        <a:p>
          <a:endParaRPr lang="ru-RU"/>
        </a:p>
      </dgm:t>
    </dgm:pt>
    <dgm:pt modelId="{EC2BD6C9-3A4D-4AF5-9CDA-8BA43419F43E}">
      <dgm:prSet phldrT="[Текст]"/>
      <dgm:spPr/>
      <dgm:t>
        <a:bodyPr/>
        <a:lstStyle/>
        <a:p>
          <a:r>
            <a:rPr lang="ru-RU" dirty="0" smtClean="0">
              <a:latin typeface="Akrobat ExtraBold" panose="00000900000000000000" pitchFamily="50" charset="-52"/>
            </a:rPr>
            <a:t>Кодирование</a:t>
          </a:r>
          <a:endParaRPr lang="ru-RU" dirty="0">
            <a:latin typeface="Akrobat ExtraBold" panose="00000900000000000000" pitchFamily="50" charset="-52"/>
          </a:endParaRPr>
        </a:p>
      </dgm:t>
    </dgm:pt>
    <dgm:pt modelId="{C0383D6A-0EAD-4919-82B8-9B2736DB58F3}" type="parTrans" cxnId="{8DEA5AB2-8F36-4103-97AB-560C4B007F39}">
      <dgm:prSet/>
      <dgm:spPr/>
      <dgm:t>
        <a:bodyPr/>
        <a:lstStyle/>
        <a:p>
          <a:endParaRPr lang="ru-RU"/>
        </a:p>
      </dgm:t>
    </dgm:pt>
    <dgm:pt modelId="{D10CFC31-13B3-4B2D-BEBA-0FC5B2ABEBAA}" type="sibTrans" cxnId="{8DEA5AB2-8F36-4103-97AB-560C4B007F39}">
      <dgm:prSet/>
      <dgm:spPr/>
      <dgm:t>
        <a:bodyPr/>
        <a:lstStyle/>
        <a:p>
          <a:endParaRPr lang="ru-RU"/>
        </a:p>
      </dgm:t>
    </dgm:pt>
    <dgm:pt modelId="{28DBD97C-D670-4C75-BFAE-DDE6A2D20313}" type="pres">
      <dgm:prSet presAssocID="{9EE89E28-9DED-4845-A53C-45DECD8178F0}" presName="CompostProcess" presStyleCnt="0">
        <dgm:presLayoutVars>
          <dgm:dir/>
          <dgm:resizeHandles val="exact"/>
        </dgm:presLayoutVars>
      </dgm:prSet>
      <dgm:spPr/>
    </dgm:pt>
    <dgm:pt modelId="{2A338DE3-D829-4CE4-8B29-FE015BF1F779}" type="pres">
      <dgm:prSet presAssocID="{9EE89E28-9DED-4845-A53C-45DECD8178F0}" presName="arrow" presStyleLbl="bgShp" presStyleIdx="0" presStyleCnt="1"/>
      <dgm:spPr/>
    </dgm:pt>
    <dgm:pt modelId="{5EC73684-B237-4858-9811-9DE91A9B8426}" type="pres">
      <dgm:prSet presAssocID="{9EE89E28-9DED-4845-A53C-45DECD8178F0}" presName="linearProcess" presStyleCnt="0"/>
      <dgm:spPr/>
    </dgm:pt>
    <dgm:pt modelId="{A401FE18-FED4-4BC9-B59C-B55DA24CC89F}" type="pres">
      <dgm:prSet presAssocID="{5874B37A-FB30-4669-AE1E-C4BCB02B4E96}" presName="text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33ACC7-4050-4BC3-8F93-828831B26FE8}" type="pres">
      <dgm:prSet presAssocID="{445853A5-BC88-425F-BADF-8E35CD7021D4}" presName="sibTrans" presStyleCnt="0"/>
      <dgm:spPr/>
    </dgm:pt>
    <dgm:pt modelId="{ECD82E47-E458-4C8B-8580-CE109E1867AE}" type="pres">
      <dgm:prSet presAssocID="{EC2BD6C9-3A4D-4AF5-9CDA-8BA43419F43E}" presName="text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73E0FD4-4B8D-4FE7-AD8A-42966C90C443}" type="presOf" srcId="{5874B37A-FB30-4669-AE1E-C4BCB02B4E96}" destId="{A401FE18-FED4-4BC9-B59C-B55DA24CC89F}" srcOrd="0" destOrd="0" presId="urn:microsoft.com/office/officeart/2005/8/layout/hProcess9"/>
    <dgm:cxn modelId="{37E420A4-0B5D-4CDB-9D0F-0CD6400E2FDC}" type="presOf" srcId="{EC2BD6C9-3A4D-4AF5-9CDA-8BA43419F43E}" destId="{ECD82E47-E458-4C8B-8580-CE109E1867AE}" srcOrd="0" destOrd="0" presId="urn:microsoft.com/office/officeart/2005/8/layout/hProcess9"/>
    <dgm:cxn modelId="{1097A880-97B8-4997-AF4F-1976E8884C3F}" type="presOf" srcId="{9EE89E28-9DED-4845-A53C-45DECD8178F0}" destId="{28DBD97C-D670-4C75-BFAE-DDE6A2D20313}" srcOrd="0" destOrd="0" presId="urn:microsoft.com/office/officeart/2005/8/layout/hProcess9"/>
    <dgm:cxn modelId="{51E1A6BD-45A3-481A-A928-2C8BE9E1B39A}" srcId="{9EE89E28-9DED-4845-A53C-45DECD8178F0}" destId="{5874B37A-FB30-4669-AE1E-C4BCB02B4E96}" srcOrd="0" destOrd="0" parTransId="{CDFE91C7-91A9-4395-BBD2-0D00B4ECFE0E}" sibTransId="{445853A5-BC88-425F-BADF-8E35CD7021D4}"/>
    <dgm:cxn modelId="{8DEA5AB2-8F36-4103-97AB-560C4B007F39}" srcId="{9EE89E28-9DED-4845-A53C-45DECD8178F0}" destId="{EC2BD6C9-3A4D-4AF5-9CDA-8BA43419F43E}" srcOrd="1" destOrd="0" parTransId="{C0383D6A-0EAD-4919-82B8-9B2736DB58F3}" sibTransId="{D10CFC31-13B3-4B2D-BEBA-0FC5B2ABEBAA}"/>
    <dgm:cxn modelId="{D4DE89E2-80BD-46B2-8A03-F2AC0156210F}" type="presParOf" srcId="{28DBD97C-D670-4C75-BFAE-DDE6A2D20313}" destId="{2A338DE3-D829-4CE4-8B29-FE015BF1F779}" srcOrd="0" destOrd="0" presId="urn:microsoft.com/office/officeart/2005/8/layout/hProcess9"/>
    <dgm:cxn modelId="{DDEAAB0F-0962-4A5A-B0E8-457674FABF4E}" type="presParOf" srcId="{28DBD97C-D670-4C75-BFAE-DDE6A2D20313}" destId="{5EC73684-B237-4858-9811-9DE91A9B8426}" srcOrd="1" destOrd="0" presId="urn:microsoft.com/office/officeart/2005/8/layout/hProcess9"/>
    <dgm:cxn modelId="{1C469C02-B414-4F7A-B901-4926B97D0B56}" type="presParOf" srcId="{5EC73684-B237-4858-9811-9DE91A9B8426}" destId="{A401FE18-FED4-4BC9-B59C-B55DA24CC89F}" srcOrd="0" destOrd="0" presId="urn:microsoft.com/office/officeart/2005/8/layout/hProcess9"/>
    <dgm:cxn modelId="{159BD0F4-CE47-4DF1-84DA-603ABF5880AD}" type="presParOf" srcId="{5EC73684-B237-4858-9811-9DE91A9B8426}" destId="{F133ACC7-4050-4BC3-8F93-828831B26FE8}" srcOrd="1" destOrd="0" presId="urn:microsoft.com/office/officeart/2005/8/layout/hProcess9"/>
    <dgm:cxn modelId="{263AED2D-BF35-4AF6-8A54-57467ABED7D9}" type="presParOf" srcId="{5EC73684-B237-4858-9811-9DE91A9B8426}" destId="{ECD82E47-E458-4C8B-8580-CE109E1867AE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38DE3-D829-4CE4-8B29-FE015BF1F779}">
      <dsp:nvSpPr>
        <dsp:cNvPr id="0" name=""/>
        <dsp:cNvSpPr/>
      </dsp:nvSpPr>
      <dsp:spPr>
        <a:xfrm>
          <a:off x="457199" y="0"/>
          <a:ext cx="5181600" cy="4064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1FE18-FED4-4BC9-B59C-B55DA24CC89F}">
      <dsp:nvSpPr>
        <dsp:cNvPr id="0" name=""/>
        <dsp:cNvSpPr/>
      </dsp:nvSpPr>
      <dsp:spPr>
        <a:xfrm>
          <a:off x="74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Akrobat ExtraBold" panose="00000900000000000000" pitchFamily="50" charset="-52"/>
            </a:rPr>
            <a:t>Проектирование</a:t>
          </a:r>
          <a:endParaRPr lang="ru-RU" sz="2400" kern="1200" dirty="0">
            <a:latin typeface="Akrobat ExtraBold" panose="00000900000000000000" pitchFamily="50" charset="-52"/>
          </a:endParaRPr>
        </a:p>
      </dsp:txBody>
      <dsp:txXfrm>
        <a:off x="79429" y="1298554"/>
        <a:ext cx="2814875" cy="1466890"/>
      </dsp:txXfrm>
    </dsp:sp>
    <dsp:sp modelId="{ECD82E47-E458-4C8B-8580-CE109E1867AE}">
      <dsp:nvSpPr>
        <dsp:cNvPr id="0" name=""/>
        <dsp:cNvSpPr/>
      </dsp:nvSpPr>
      <dsp:spPr>
        <a:xfrm>
          <a:off x="3122339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Akrobat ExtraBold" panose="00000900000000000000" pitchFamily="50" charset="-52"/>
            </a:rPr>
            <a:t>Кодирование</a:t>
          </a:r>
          <a:endParaRPr lang="ru-RU" sz="2400" kern="1200" dirty="0">
            <a:latin typeface="Akrobat ExtraBold" panose="00000900000000000000" pitchFamily="50" charset="-52"/>
          </a:endParaRPr>
        </a:p>
      </dsp:txBody>
      <dsp:txXfrm>
        <a:off x="3201694" y="1298554"/>
        <a:ext cx="2814875" cy="146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0" r="29070"/>
          <a:stretch/>
        </p:blipFill>
        <p:spPr>
          <a:xfrm flipV="1">
            <a:off x="0" y="2155218"/>
            <a:ext cx="9144000" cy="4702781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7"/>
          <a:stretch/>
        </p:blipFill>
        <p:spPr>
          <a:xfrm>
            <a:off x="0" y="-1"/>
            <a:ext cx="9144000" cy="215522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1287254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406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5440680"/>
            <a:ext cx="9144000" cy="1417321"/>
          </a:xfrm>
          <a:prstGeom prst="rect">
            <a:avLst/>
          </a:prstGeom>
          <a:gradFill flip="none" rotWithShape="1">
            <a:gsLst>
              <a:gs pos="0">
                <a:srgbClr val="C6D4DF"/>
              </a:gs>
              <a:gs pos="100000">
                <a:srgbClr val="F1F1F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490866" y="5242608"/>
            <a:ext cx="4761077" cy="7883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krobat ExtraBold" panose="00000900000000000000" pitchFamily="50" charset="-52"/>
              </a:rPr>
              <a:t>UML</a:t>
            </a:r>
            <a:endParaRPr lang="en-US" b="1" dirty="0">
              <a:ln/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8065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Akrobat ExtraBold" panose="00000900000000000000" pitchFamily="50" charset="-52"/>
              </a:rPr>
              <a:t>Принцип создания проектов</a:t>
            </a:r>
            <a:endParaRPr lang="ru-RU" dirty="0">
              <a:latin typeface="Akrobat ExtraBold" panose="00000900000000000000" pitchFamily="50" charset="-52"/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91049411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5459" y="5683541"/>
            <a:ext cx="480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krobat ExtraBold" panose="00000900000000000000" pitchFamily="50" charset="-52"/>
              </a:rPr>
              <a:t>Принцип ООП: абстракция - реализация</a:t>
            </a:r>
            <a:endParaRPr lang="ru-RU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9309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946" y="964964"/>
            <a:ext cx="7886698" cy="99874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krobat ExtraBold" panose="00000900000000000000" pitchFamily="50" charset="-52"/>
              </a:rPr>
              <a:t>UML(Unified Modeling Language)</a:t>
            </a:r>
            <a:endParaRPr lang="ru-RU" dirty="0">
              <a:latin typeface="Akrobat ExtraBold" panose="000009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15" y="2042628"/>
            <a:ext cx="7869890" cy="488970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Цель </a:t>
            </a:r>
            <a:r>
              <a:rPr lang="en-US" dirty="0" smtClean="0">
                <a:latin typeface="Akrobat ExtraBold" panose="00000900000000000000" pitchFamily="50" charset="-52"/>
              </a:rPr>
              <a:t>UML</a:t>
            </a:r>
            <a:r>
              <a:rPr lang="ru-RU" dirty="0" smtClean="0">
                <a:latin typeface="Akrobat ExtraBold" panose="00000900000000000000" pitchFamily="50" charset="-52"/>
              </a:rPr>
              <a:t> – проектирование, документирование, визуальное описание основных компонентов проекта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Диаграмма – визуальное описание процесса, классов, взаимодействия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На каждый процесс – своя диаграмма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Хранение важной информации в эл. виде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Не язык программирования (но можно генерировать код)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Дополняет ТЗ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Видение процесса «сверху»</a:t>
            </a:r>
            <a:endParaRPr lang="ru-RU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1847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5400" dirty="0" smtClean="0">
                <a:latin typeface="Akrobat ExtraBold" panose="00000900000000000000" pitchFamily="50" charset="-52"/>
              </a:rPr>
              <a:t>Основные источники</a:t>
            </a:r>
            <a:endParaRPr lang="en-US" sz="5400" dirty="0" smtClean="0">
              <a:latin typeface="Akrobat ExtraBold" panose="00000900000000000000" pitchFamily="50" charset="-5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>
                <a:latin typeface="Akrobat ExtraBold" panose="00000900000000000000" pitchFamily="50" charset="-52"/>
              </a:rPr>
              <a:t>uml</a:t>
            </a:r>
            <a:r>
              <a:rPr lang="ru-RU" dirty="0" smtClean="0">
                <a:latin typeface="Akrobat ExtraBold" panose="00000900000000000000" pitchFamily="50" charset="-52"/>
              </a:rPr>
              <a:t>-</a:t>
            </a:r>
            <a:r>
              <a:rPr lang="en-US" dirty="0" smtClean="0">
                <a:latin typeface="Akrobat ExtraBold" panose="00000900000000000000" pitchFamily="50" charset="-52"/>
              </a:rPr>
              <a:t>diagrams.org</a:t>
            </a:r>
          </a:p>
          <a:p>
            <a:pPr marL="0" indent="0">
              <a:buNone/>
            </a:pPr>
            <a:endParaRPr lang="en-US" dirty="0">
              <a:latin typeface="Akrobat ExtraBold" panose="00000900000000000000" pitchFamily="50" charset="-52"/>
            </a:endParaRPr>
          </a:p>
          <a:p>
            <a:pPr marL="0" indent="0">
              <a:buNone/>
            </a:pPr>
            <a:r>
              <a:rPr lang="en-US" dirty="0" smtClean="0">
                <a:latin typeface="Akrobat ExtraBold" panose="00000900000000000000" pitchFamily="50" charset="-52"/>
              </a:rPr>
              <a:t>Creately.com </a:t>
            </a:r>
            <a:endParaRPr lang="en-US" dirty="0">
              <a:latin typeface="Akrobat ExtraBold" panose="00000900000000000000" pitchFamily="50" charset="-52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11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712" y="852322"/>
            <a:ext cx="7886698" cy="99874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Akrobat ExtraBold" panose="00000900000000000000" pitchFamily="50" charset="-52"/>
              </a:rPr>
              <a:t>Кто может использовать </a:t>
            </a:r>
            <a:r>
              <a:rPr lang="en-US" dirty="0" smtClean="0">
                <a:latin typeface="Akrobat ExtraBold" panose="00000900000000000000" pitchFamily="50" charset="-52"/>
              </a:rPr>
              <a:t>UML</a:t>
            </a:r>
            <a:endParaRPr lang="ru-RU" dirty="0">
              <a:latin typeface="Akrobat ExtraBold" panose="000009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7285" y="1851064"/>
            <a:ext cx="7869890" cy="488970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 smtClean="0">
                <a:latin typeface="Akrobat ExtraBold" panose="00000900000000000000" pitchFamily="50" charset="-52"/>
              </a:rPr>
              <a:t>Заказчик – общие задачи и цели проекта</a:t>
            </a:r>
          </a:p>
          <a:p>
            <a:pPr marL="0" indent="0">
              <a:buNone/>
            </a:pPr>
            <a:r>
              <a:rPr lang="ru-RU" b="1" dirty="0" smtClean="0">
                <a:latin typeface="Akrobat ExtraBold" panose="00000900000000000000" pitchFamily="50" charset="-52"/>
              </a:rPr>
              <a:t>Аналитик </a:t>
            </a:r>
            <a:r>
              <a:rPr lang="ru-RU" dirty="0" smtClean="0">
                <a:latin typeface="Akrobat ExtraBold" panose="00000900000000000000" pitchFamily="50" charset="-52"/>
              </a:rPr>
              <a:t>– подходы, правильность работы системы и её частей, «слои» приложения</a:t>
            </a:r>
          </a:p>
          <a:p>
            <a:pPr marL="0" indent="0">
              <a:buNone/>
            </a:pPr>
            <a:r>
              <a:rPr lang="ru-RU" b="1" dirty="0" smtClean="0">
                <a:latin typeface="Akrobat ExtraBold" panose="00000900000000000000" pitchFamily="50" charset="-52"/>
              </a:rPr>
              <a:t>Разработчик/Архитектор</a:t>
            </a:r>
            <a:r>
              <a:rPr lang="ru-RU" dirty="0" smtClean="0">
                <a:latin typeface="Akrobat ExtraBold" panose="00000900000000000000" pitchFamily="50" charset="-52"/>
              </a:rPr>
              <a:t> – дизайн кода, архитектура классов, объектов и взаимодействий</a:t>
            </a:r>
          </a:p>
          <a:p>
            <a:pPr marL="0" indent="0">
              <a:buNone/>
            </a:pPr>
            <a:r>
              <a:rPr lang="ru-RU" b="1" dirty="0" err="1" smtClean="0">
                <a:latin typeface="Akrobat ExtraBold" panose="00000900000000000000" pitchFamily="50" charset="-52"/>
              </a:rPr>
              <a:t>Тестировщик</a:t>
            </a:r>
            <a:r>
              <a:rPr lang="ru-RU" dirty="0" smtClean="0">
                <a:latin typeface="Akrobat ExtraBold" panose="00000900000000000000" pitchFamily="50" charset="-52"/>
              </a:rPr>
              <a:t> – проверка функционала на всех уровнях</a:t>
            </a:r>
          </a:p>
          <a:p>
            <a:pPr marL="0" indent="0">
              <a:buNone/>
            </a:pPr>
            <a:r>
              <a:rPr lang="ru-RU" dirty="0" smtClean="0">
                <a:latin typeface="Akrobat ExtraBold" panose="00000900000000000000" pitchFamily="50" charset="-52"/>
              </a:rPr>
              <a:t>Менеджер проекта – общая картина по проекту</a:t>
            </a:r>
          </a:p>
          <a:p>
            <a:pPr marL="0" indent="0">
              <a:buNone/>
            </a:pPr>
            <a:endParaRPr lang="ru-RU" dirty="0">
              <a:latin typeface="Akrobat ExtraBold" panose="00000900000000000000" pitchFamily="50" charset="-52"/>
            </a:endParaRPr>
          </a:p>
          <a:p>
            <a:pPr marL="0" indent="0" algn="ctr">
              <a:buNone/>
            </a:pPr>
            <a:r>
              <a:rPr lang="ru-RU" sz="7200" dirty="0" smtClean="0">
                <a:latin typeface="Akrobat ExtraBold" panose="00000900000000000000" pitchFamily="50" charset="-52"/>
              </a:rPr>
              <a:t>ООП!</a:t>
            </a:r>
            <a:endParaRPr lang="ru-RU" sz="7200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3910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Akrobat ExtraBold" panose="00000900000000000000" pitchFamily="50" charset="-52"/>
              </a:rPr>
              <a:t>Плюсы</a:t>
            </a:r>
            <a:endParaRPr lang="ru-RU" dirty="0">
              <a:latin typeface="Akrobat ExtraBold" panose="000009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2877" y="1577352"/>
            <a:ext cx="7869890" cy="4889709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Универсальность – единая технология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Автоматическая генерация кода на основе </a:t>
            </a:r>
            <a:r>
              <a:rPr lang="en-US" dirty="0" smtClean="0">
                <a:latin typeface="Akrobat ExtraBold" panose="00000900000000000000" pitchFamily="50" charset="-52"/>
              </a:rPr>
              <a:t>UML-</a:t>
            </a:r>
            <a:r>
              <a:rPr lang="ru-RU" dirty="0" smtClean="0">
                <a:latin typeface="Akrobat ExtraBold" panose="00000900000000000000" pitchFamily="50" charset="-52"/>
              </a:rPr>
              <a:t>диаграмм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Широкое применение – ИТ, бизнес и др.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Поддержка ООП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Большое количество типов диаграмм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Удобные инструменты, плагины для многих </a:t>
            </a:r>
            <a:r>
              <a:rPr lang="en-US" dirty="0" smtClean="0">
                <a:latin typeface="Akrobat ExtraBold" panose="00000900000000000000" pitchFamily="50" charset="-52"/>
              </a:rPr>
              <a:t>IDE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Разбор основных моментов проекта без изучения кода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Миграция диаграмм инструментальными средствами</a:t>
            </a:r>
            <a:endParaRPr lang="ru-RU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7527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83923" y="1157121"/>
            <a:ext cx="7886698" cy="998742"/>
          </a:xfrm>
        </p:spPr>
        <p:txBody>
          <a:bodyPr/>
          <a:lstStyle/>
          <a:p>
            <a:pPr algn="ctr"/>
            <a:r>
              <a:rPr lang="ru-RU" dirty="0" smtClean="0">
                <a:latin typeface="Akrobat ExtraBold" panose="00000900000000000000" pitchFamily="50" charset="-52"/>
              </a:rPr>
              <a:t>Минусы</a:t>
            </a:r>
            <a:endParaRPr lang="ru-RU" dirty="0">
              <a:latin typeface="Akrobat ExtraBold" panose="000009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024" y="2426941"/>
            <a:ext cx="7869890" cy="48897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Изучение </a:t>
            </a:r>
            <a:r>
              <a:rPr lang="en-US" dirty="0" smtClean="0">
                <a:latin typeface="Akrobat ExtraBold" panose="00000900000000000000" pitchFamily="50" charset="-52"/>
              </a:rPr>
              <a:t>UML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Для начинающих – путаница в количестве диаграмм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Знание ООП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Детализация/поверхностное описание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Учебные материалы сложны и запутаны</a:t>
            </a:r>
            <a:endParaRPr lang="ru-RU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0146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Akrobat ExtraBold" panose="00000900000000000000" pitchFamily="50" charset="-52"/>
              </a:rPr>
              <a:t>Типы диаграмм</a:t>
            </a:r>
            <a:endParaRPr lang="ru-RU" dirty="0">
              <a:latin typeface="Akrobat ExtraBold" panose="00000900000000000000" pitchFamily="50" charset="-52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627737" y="4109967"/>
            <a:ext cx="3475967" cy="200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81270" y="4234069"/>
            <a:ext cx="3690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Akrobat ExtraBold" panose="00000900000000000000" pitchFamily="50" charset="-52"/>
              </a:rPr>
              <a:t>Structure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Bold" panose="00000800000000000000" pitchFamily="50" charset="-52"/>
              </a:rPr>
              <a:t>Общая картина взаимодействия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Bold" panose="00000800000000000000" pitchFamily="50" charset="-52"/>
              </a:rPr>
              <a:t>Как устроено, кто с кем связан</a:t>
            </a:r>
            <a:endParaRPr lang="ru-RU" dirty="0">
              <a:latin typeface="Akrobat Bold" panose="00000800000000000000" pitchFamily="50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1600" y="4187686"/>
            <a:ext cx="36907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Akrobat ExtraBold" panose="00000900000000000000" pitchFamily="50" charset="-52"/>
              </a:rPr>
              <a:t>Behavior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Bold" panose="00000800000000000000" pitchFamily="50" charset="-52"/>
              </a:rPr>
              <a:t>Динамическое поведение, изменение состояния во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Bold" panose="00000800000000000000" pitchFamily="50" charset="-52"/>
              </a:rPr>
              <a:t>Как работает, последовательность процессов</a:t>
            </a:r>
            <a:endParaRPr lang="ru-RU" dirty="0">
              <a:latin typeface="Akrobat Bold" panose="00000800000000000000" pitchFamily="50" charset="-52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0" y="2623930"/>
            <a:ext cx="4381500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rgbClr val="FFFFFF"/>
                </a:solidFill>
                <a:latin typeface="Akrobat ExtraBold" panose="00000900000000000000" pitchFamily="50" charset="-52"/>
              </a:rPr>
              <a:t>Структурные</a:t>
            </a:r>
            <a:endParaRPr lang="ru-RU" sz="4000" dirty="0">
              <a:solidFill>
                <a:srgbClr val="FFFFFF"/>
              </a:solidFill>
              <a:latin typeface="Akrobat ExtraBold" panose="00000900000000000000" pitchFamily="50" charset="-52"/>
            </a:endParaRPr>
          </a:p>
        </p:txBody>
      </p:sp>
      <p:sp>
        <p:nvSpPr>
          <p:cNvPr id="8" name="Блок-схема: альтернативный процесс 7"/>
          <p:cNvSpPr/>
          <p:nvPr/>
        </p:nvSpPr>
        <p:spPr>
          <a:xfrm>
            <a:off x="4627737" y="2623930"/>
            <a:ext cx="4516263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rgbClr val="FFFFFF"/>
                </a:solidFill>
                <a:latin typeface="Akrobat ExtraBold" panose="00000900000000000000" pitchFamily="50" charset="-52"/>
              </a:rPr>
              <a:t>Поведенческие</a:t>
            </a:r>
            <a:endParaRPr lang="ru-RU" sz="4000" dirty="0">
              <a:solidFill>
                <a:srgbClr val="FFFFFF"/>
              </a:solidFill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0501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9612" y="0"/>
            <a:ext cx="4289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latin typeface="Akrobat ExtraBold" panose="00000900000000000000" pitchFamily="50" charset="-52"/>
              </a:rPr>
              <a:t>Типы диаграмм </a:t>
            </a:r>
            <a:endParaRPr lang="ru-RU" sz="3600" b="1" dirty="0">
              <a:latin typeface="Akrobat ExtraBold" panose="00000900000000000000" pitchFamily="50" charset="-52"/>
            </a:endParaRPr>
          </a:p>
        </p:txBody>
      </p:sp>
      <p:pic>
        <p:nvPicPr>
          <p:cNvPr id="1026" name="Picture 2" descr="ÐÐ°ÑÑÐ¸Ð½ÐºÐ¸ Ð¿Ð¾ Ð·Ð°Ð¿ÑÐ¾ÑÑ ÑÐ¸Ð¿Ñ Ð´Ð¸Ð°Ð³ÑÐ°Ð¼Ð¼ uml 2.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19" y="646331"/>
            <a:ext cx="7659982" cy="621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1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93235" y="318052"/>
            <a:ext cx="4412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krobat ExtraBold" panose="00000900000000000000" pitchFamily="50" charset="-52"/>
              </a:rPr>
              <a:t>Class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660" y="2246244"/>
            <a:ext cx="30148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Описание классов, интерфейсов, связей, методов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Структура в стиле ООП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Позволяет понять работу кода без изучения самого кода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err="1" smtClean="0">
                <a:latin typeface="Akrobat ExtraBold" panose="00000900000000000000" pitchFamily="50" charset="-52"/>
              </a:rPr>
              <a:t>Автогенерация</a:t>
            </a:r>
            <a:r>
              <a:rPr lang="ru-RU" dirty="0" smtClean="0">
                <a:latin typeface="Akrobat ExtraBold" panose="00000900000000000000" pitchFamily="50" charset="-52"/>
              </a:rPr>
              <a:t> кода на основе диаграмм</a:t>
            </a:r>
            <a:endParaRPr lang="ru-RU" dirty="0">
              <a:latin typeface="Akrobat ExtraBold" panose="00000900000000000000" pitchFamily="50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040" y="2186608"/>
            <a:ext cx="5361804" cy="45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4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4210" y="483704"/>
            <a:ext cx="492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Akrobat ExtraBold" panose="00000900000000000000" pitchFamily="50" charset="-52"/>
              </a:rPr>
              <a:t>Object diagram</a:t>
            </a:r>
            <a:endParaRPr lang="ru-RU" sz="48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053" y="2749827"/>
            <a:ext cx="34323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Состояние экземпляров классов с конкретными значениями полей в определенный момент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Похож на диаграмму классов, но в режиме </a:t>
            </a:r>
            <a:r>
              <a:rPr lang="en-US" sz="2400" dirty="0" smtClean="0">
                <a:latin typeface="Akrobat ExtraBold" panose="00000900000000000000" pitchFamily="50" charset="-52"/>
              </a:rPr>
              <a:t>runtime</a:t>
            </a:r>
            <a:r>
              <a:rPr lang="ru-RU" sz="2400" dirty="0" smtClean="0">
                <a:latin typeface="Akrobat ExtraBold" panose="00000900000000000000" pitchFamily="50" charset="-52"/>
              </a:rPr>
              <a:t> (во время работы программы)</a:t>
            </a:r>
            <a:endParaRPr lang="ru-RU" sz="2400" dirty="0">
              <a:latin typeface="Akrobat ExtraBold" panose="000009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61" y="3640980"/>
            <a:ext cx="5437117" cy="28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9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1444" y="337931"/>
            <a:ext cx="4578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krobat ExtraBold" panose="00000900000000000000" pitchFamily="50" charset="-52"/>
              </a:rPr>
              <a:t>Package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600189"/>
            <a:ext cx="30811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latin typeface="Akrobat ExtraBold" panose="00000900000000000000" pitchFamily="50" charset="-52"/>
              </a:rPr>
              <a:t>Показывает вложенность и связи между пакетами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ru-RU" sz="2800" dirty="0">
              <a:latin typeface="Akrobat ExtraBold" panose="00000900000000000000" pitchFamily="50" charset="-52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latin typeface="Akrobat ExtraBold" panose="00000900000000000000" pitchFamily="50" charset="-52"/>
              </a:rPr>
              <a:t>Более высокий уровень, чем классы</a:t>
            </a:r>
            <a:endParaRPr lang="ru-RU" sz="2800" dirty="0">
              <a:latin typeface="Akrobat ExtraBold" panose="000009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05" y="2411896"/>
            <a:ext cx="6008495" cy="39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3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0286" y="177800"/>
            <a:ext cx="60612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krobat ExtraBold" panose="00000900000000000000" pitchFamily="50" charset="-52"/>
              </a:rPr>
              <a:t>Model diagram 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270" y="1709531"/>
            <a:ext cx="30430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Описание «слоев» проекта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Используется для многоуровневых приложений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Часто используется в ТЗ для общего описания частей проекта</a:t>
            </a:r>
            <a:endParaRPr lang="ru-RU" sz="2400" dirty="0">
              <a:latin typeface="Akrobat ExtraBold" panose="000009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923102"/>
            <a:ext cx="5676899" cy="596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4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7826" y="371060"/>
            <a:ext cx="5581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Akrobat ExtraBold" panose="00000900000000000000" pitchFamily="50" charset="-52"/>
              </a:rPr>
              <a:t>UseCase</a:t>
            </a:r>
            <a:r>
              <a:rPr lang="en-US" sz="4000" dirty="0" smtClean="0">
                <a:latin typeface="Akrobat ExtraBold" panose="00000900000000000000" pitchFamily="50" charset="-52"/>
              </a:rPr>
              <a:t>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170056"/>
            <a:ext cx="2743200" cy="568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krobat ExtraBold" panose="00000900000000000000" pitchFamily="50" charset="-52"/>
              </a:rPr>
              <a:t>Диаграмма прецедентов/вариантов использования</a:t>
            </a:r>
          </a:p>
          <a:p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Описание возможных сценариев работы с системой с точки зрения пользователя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Возможные пути использования системы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Описание всех участников системы (актеры)</a:t>
            </a:r>
            <a:endParaRPr lang="ru-RU" dirty="0">
              <a:latin typeface="Akrobat ExtraBold" panose="00000900000000000000" pitchFamily="50" charset="-52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351" y="1078946"/>
            <a:ext cx="6387979" cy="577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326" y="132234"/>
            <a:ext cx="5555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krobat ExtraBold" panose="00000900000000000000" pitchFamily="50" charset="-52"/>
              </a:rPr>
              <a:t>Activity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104" y="840120"/>
            <a:ext cx="420259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Описание </a:t>
            </a:r>
            <a:r>
              <a:rPr lang="ru-RU" sz="2400" dirty="0" smtClean="0">
                <a:latin typeface="Akrobat ExtraBold" panose="00000900000000000000" pitchFamily="50" charset="-52"/>
              </a:rPr>
              <a:t>возможных бизнес-процессов приложения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Взаимодействие «потоков», пошаговое представление 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Более низкий уровень, чем </a:t>
            </a:r>
            <a:r>
              <a:rPr lang="en-US" sz="2400" dirty="0" err="1" smtClean="0">
                <a:latin typeface="Akrobat ExtraBold" panose="00000900000000000000" pitchFamily="50" charset="-52"/>
              </a:rPr>
              <a:t>UseCase</a:t>
            </a:r>
            <a:endParaRPr lang="ru-RU" sz="2400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 smtClean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Может быть конкретным описанием блоков </a:t>
            </a:r>
            <a:r>
              <a:rPr lang="en-US" sz="2400" dirty="0" err="1" smtClean="0">
                <a:latin typeface="Akrobat ExtraBold" panose="00000900000000000000" pitchFamily="50" charset="-52"/>
              </a:rPr>
              <a:t>UseCase</a:t>
            </a:r>
            <a:r>
              <a:rPr lang="ru-RU" sz="2400" dirty="0" smtClean="0">
                <a:latin typeface="Akrobat ExtraBold" panose="00000900000000000000" pitchFamily="50" charset="-52"/>
              </a:rPr>
              <a:t> диаграмм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563" y="676312"/>
            <a:ext cx="4667438" cy="618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3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6730" y="127001"/>
            <a:ext cx="55802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krobat ExtraBold" panose="00000900000000000000" pitchFamily="50" charset="-52"/>
              </a:rPr>
              <a:t>Sequence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026" y="1596887"/>
            <a:ext cx="357477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Последовательность взаимодействия объектов для определенного бизнес-процесса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Как объекты друг друга вызывают и какие данные передают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 smtClean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Показывают объекты в действии</a:t>
            </a:r>
          </a:p>
          <a:p>
            <a:endParaRPr lang="ru-RU" sz="2000" dirty="0" smtClean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Показывают время жизни объектов (создание, удаление)</a:t>
            </a:r>
            <a:endParaRPr lang="ru-RU" sz="2000" dirty="0">
              <a:latin typeface="Akrobat ExtraBold" panose="000009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849" y="896443"/>
            <a:ext cx="5561151" cy="59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0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4574" y="390938"/>
            <a:ext cx="6140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krobat ExtraBold" panose="00000900000000000000" pitchFamily="50" charset="-52"/>
              </a:rPr>
              <a:t>Deployment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52400" y="1749287"/>
            <a:ext cx="279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Описание </a:t>
            </a:r>
            <a:r>
              <a:rPr lang="ru-RU" sz="2400" dirty="0" smtClean="0">
                <a:latin typeface="Akrobat ExtraBold" panose="00000900000000000000" pitchFamily="50" charset="-52"/>
              </a:rPr>
              <a:t>архитектуры, </a:t>
            </a:r>
            <a:r>
              <a:rPr lang="ru-RU" sz="2400" dirty="0" smtClean="0">
                <a:latin typeface="Akrobat ExtraBold" panose="00000900000000000000" pitchFamily="50" charset="-52"/>
              </a:rPr>
              <a:t>топологии системы (ОС, БД, сервера и пр.)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smtClean="0">
                <a:latin typeface="Akrobat ExtraBold" panose="00000900000000000000" pitchFamily="50" charset="-52"/>
              </a:rPr>
              <a:t>Информация для администраторов</a:t>
            </a:r>
            <a:endParaRPr lang="ru-RU" sz="2400" dirty="0">
              <a:latin typeface="Akrobat ExtraBold" panose="000009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168387"/>
            <a:ext cx="6807722" cy="41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5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341313"/>
            <a:ext cx="77724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b="1" dirty="0" smtClean="0">
                <a:latin typeface="Akrobat ExtraBold" panose="00000900000000000000" pitchFamily="50" charset="-52"/>
              </a:rPr>
              <a:t>Диаграмма</a:t>
            </a:r>
            <a:r>
              <a:rPr lang="ru-RU" altLang="ru-RU" b="1" dirty="0" smtClean="0"/>
              <a:t> вариантов использования</a:t>
            </a:r>
            <a:br>
              <a:rPr lang="ru-RU" altLang="ru-RU" b="1" dirty="0" smtClean="0"/>
            </a:br>
            <a:r>
              <a:rPr lang="ru-RU" altLang="ru-RU" b="1" i="1" dirty="0" smtClean="0"/>
              <a:t>(</a:t>
            </a:r>
            <a:r>
              <a:rPr lang="ru-RU" altLang="ru-RU" b="1" i="1" dirty="0" err="1" smtClean="0"/>
              <a:t>use</a:t>
            </a:r>
            <a:r>
              <a:rPr lang="ru-RU" altLang="ru-RU" b="1" i="1" dirty="0" smtClean="0"/>
              <a:t> </a:t>
            </a:r>
            <a:r>
              <a:rPr lang="ru-RU" altLang="ru-RU" b="1" i="1" dirty="0" err="1" smtClean="0"/>
              <a:t>case</a:t>
            </a:r>
            <a:r>
              <a:rPr lang="ru-RU" altLang="ru-RU" b="1" i="1" dirty="0" smtClean="0"/>
              <a:t> </a:t>
            </a:r>
            <a:r>
              <a:rPr lang="ru-RU" altLang="ru-RU" b="1" i="1" dirty="0" err="1" smtClean="0"/>
              <a:t>diagram</a:t>
            </a:r>
            <a:r>
              <a:rPr lang="ru-RU" altLang="ru-RU" b="1" i="1" dirty="0" smtClean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431" y="1645103"/>
            <a:ext cx="7705725" cy="1368425"/>
          </a:xfrm>
        </p:spPr>
        <p:txBody>
          <a:bodyPr>
            <a:normAutofit fontScale="92500" lnSpcReduction="10000"/>
          </a:bodyPr>
          <a:lstStyle/>
          <a:p>
            <a:pPr marL="457200" indent="-457200" eaLnBrk="1" hangingPunct="1">
              <a:lnSpc>
                <a:spcPct val="90000"/>
              </a:lnSpc>
            </a:pPr>
            <a:r>
              <a:rPr lang="ru-RU" altLang="ru-RU" sz="2200" dirty="0" smtClean="0">
                <a:latin typeface="Akrobat ExtraBold" panose="00000900000000000000" pitchFamily="50" charset="-52"/>
              </a:rPr>
              <a:t>диаграмма, на которой изображаются варианты использования проектируемой системы, заключенные в границу системы, и внешние актеры, а также определенные отношения между актерами и вариантами использования</a:t>
            </a:r>
          </a:p>
        </p:txBody>
      </p:sp>
      <p:pic>
        <p:nvPicPr>
          <p:cNvPr id="24580" name="Picture 6" descr="DiagrUC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6" y="2908665"/>
            <a:ext cx="6473578" cy="346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85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7993062" cy="719137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Назначение диаграммы вариантов использования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680" y="2129900"/>
            <a:ext cx="7705725" cy="4608513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Определить общие границы функциональности проектируемой системы в контексте моделируемой предметной области.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Специфицировать требования к функциональному поведению проектируемой системы в форме вариантов использования.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Разработать исходную концептуальную модель системы для ее последующей детализации в форме логических и физических моделей.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Подготовить исходную документацию для взаимодействия разработчиков системы с ее заказчиками и пользователями</a:t>
            </a:r>
          </a:p>
          <a:p>
            <a:pPr eaLnBrk="1" hangingPunct="1"/>
            <a:endParaRPr lang="ru-RU" altLang="ru-RU" dirty="0" smtClean="0"/>
          </a:p>
        </p:txBody>
      </p:sp>
    </p:spTree>
    <p:extLst>
      <p:ext uri="{BB962C8B-B14F-4D97-AF65-F5344CB8AC3E}">
        <p14:creationId xmlns:p14="http://schemas.microsoft.com/office/powerpoint/2010/main" val="73463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/>
          <p:cNvSpPr>
            <a:spLocks noGrp="1" noChangeArrowheads="1"/>
          </p:cNvSpPr>
          <p:nvPr>
            <p:ph type="title"/>
          </p:nvPr>
        </p:nvSpPr>
        <p:spPr>
          <a:xfrm>
            <a:off x="1474787" y="667544"/>
            <a:ext cx="73914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Проектируемая система и ее окружение</a:t>
            </a:r>
          </a:p>
        </p:txBody>
      </p:sp>
      <p:pic>
        <p:nvPicPr>
          <p:cNvPr id="26627" name="Picture 4" descr="Рис_03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7" y="2254251"/>
            <a:ext cx="79295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403349" y="5292727"/>
            <a:ext cx="7462838" cy="892175"/>
          </a:xfrm>
          <a:noFill/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ru-RU" altLang="ru-RU" i="1" dirty="0" smtClean="0">
                <a:latin typeface="Akrobat Bold" panose="00000800000000000000" pitchFamily="50" charset="-52"/>
              </a:rPr>
              <a:t>Субъект 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subject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– любой элемент модели, который обладает функциональным поведением</a:t>
            </a:r>
          </a:p>
        </p:txBody>
      </p:sp>
      <p:sp>
        <p:nvSpPr>
          <p:cNvPr id="26629" name="Line 7"/>
          <p:cNvSpPr>
            <a:spLocks noChangeShapeType="1"/>
          </p:cNvSpPr>
          <p:nvPr/>
        </p:nvSpPr>
        <p:spPr bwMode="auto">
          <a:xfrm flipV="1">
            <a:off x="3251200" y="4284665"/>
            <a:ext cx="935038" cy="1008062"/>
          </a:xfrm>
          <a:prstGeom prst="lin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5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09021" y="737153"/>
            <a:ext cx="3969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Akrobat ExtraBold" panose="00000900000000000000" pitchFamily="50" charset="-52"/>
              </a:rPr>
              <a:t>Прецеденты 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3461" y="2332383"/>
            <a:ext cx="83753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Akrobat ExtraBold" panose="00000900000000000000" pitchFamily="50" charset="-52"/>
              </a:rPr>
              <a:t>UseCase</a:t>
            </a:r>
            <a:r>
              <a:rPr lang="en-US" sz="2000" dirty="0" smtClean="0">
                <a:latin typeface="Akrobat ExtraBold" panose="00000900000000000000" pitchFamily="50" charset="-52"/>
              </a:rPr>
              <a:t>(</a:t>
            </a:r>
            <a:r>
              <a:rPr lang="ru-RU" sz="2000" dirty="0" smtClean="0">
                <a:latin typeface="Akrobat ExtraBold" panose="00000900000000000000" pitchFamily="50" charset="-52"/>
              </a:rPr>
              <a:t>случай использования, прецедент) – набор сценариев, путей, которые нужно выполнить для достижения целей приложения ( с точки зрения пользователей)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Описывает участников (</a:t>
            </a:r>
            <a:r>
              <a:rPr lang="en-US" sz="2000" dirty="0" smtClean="0">
                <a:latin typeface="Akrobat ExtraBold" panose="00000900000000000000" pitchFamily="50" charset="-52"/>
              </a:rPr>
              <a:t>actor)</a:t>
            </a:r>
            <a:r>
              <a:rPr lang="ru-RU" sz="2000" dirty="0" smtClean="0">
                <a:latin typeface="Akrobat ExtraBold" panose="00000900000000000000" pitchFamily="50" charset="-52"/>
              </a:rPr>
              <a:t>, возможные сценарии (успешные и неудачные), которые выполняются для решения задач приложения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Может описывать основные сценарии, которые составляют «ядро» приложения (дополнительные сценарии могут добавляться по ходу разработки)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Ориентация - на пользователей </a:t>
            </a:r>
            <a:endParaRPr lang="ru-RU" sz="2000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5650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80175" y="228600"/>
            <a:ext cx="9224175" cy="173656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Bold" panose="00000800000000000000" pitchFamily="50" charset="-52"/>
              </a:rPr>
              <a:t>Основные обозначения на диаграмме вариантов использования</a:t>
            </a:r>
            <a:endParaRPr lang="en-US" altLang="ru-RU" dirty="0" smtClean="0">
              <a:latin typeface="Akrobat Bold" panose="00000800000000000000" pitchFamily="50" charset="-52"/>
            </a:endParaRPr>
          </a:p>
        </p:txBody>
      </p:sp>
      <p:pic>
        <p:nvPicPr>
          <p:cNvPr id="27651" name="Picture 1027" descr="UC_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64" y="2188579"/>
            <a:ext cx="7503836" cy="483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84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7993062" cy="433387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Bold" panose="00000800000000000000" pitchFamily="50" charset="-52"/>
              </a:rPr>
              <a:t>Вариант использования </a:t>
            </a:r>
            <a:br>
              <a:rPr lang="ru-RU" altLang="ru-RU" dirty="0" smtClean="0">
                <a:latin typeface="Akrobat Bold" panose="00000800000000000000" pitchFamily="50" charset="-52"/>
              </a:rPr>
            </a:br>
            <a:r>
              <a:rPr lang="ru-RU" altLang="ru-RU" dirty="0" smtClean="0">
                <a:latin typeface="Akrobat Bold" panose="00000800000000000000" pitchFamily="50" charset="-52"/>
              </a:rPr>
              <a:t>(</a:t>
            </a:r>
            <a:r>
              <a:rPr lang="ru-RU" altLang="ru-RU" dirty="0" err="1" smtClean="0">
                <a:latin typeface="Akrobat Bold" panose="00000800000000000000" pitchFamily="50" charset="-52"/>
              </a:rPr>
              <a:t>use</a:t>
            </a:r>
            <a:r>
              <a:rPr lang="ru-RU" altLang="ru-RU" dirty="0" smtClean="0">
                <a:latin typeface="Akrobat Bold" panose="00000800000000000000" pitchFamily="50" charset="-52"/>
              </a:rPr>
              <a:t> </a:t>
            </a:r>
            <a:r>
              <a:rPr lang="ru-RU" altLang="ru-RU" dirty="0" err="1" smtClean="0">
                <a:latin typeface="Akrobat Bold" panose="00000800000000000000" pitchFamily="50" charset="-52"/>
              </a:rPr>
              <a:t>case</a:t>
            </a:r>
            <a:r>
              <a:rPr lang="ru-RU" altLang="ru-RU" dirty="0" smtClean="0">
                <a:latin typeface="Akrobat Bold" panose="00000800000000000000" pitchFamily="50" charset="-52"/>
              </a:rPr>
              <a:t>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910" y="1868488"/>
            <a:ext cx="7705725" cy="2579687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dirty="0" smtClean="0">
                <a:latin typeface="Akrobat Bold" panose="00000800000000000000" pitchFamily="50" charset="-52"/>
              </a:rPr>
              <a:t>представляет собой общую спецификацию совокупности выполняемых системой действий с целью предоставления некоторого наблюдаемого результата, который имеет значение для одного или нескольких актеров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>
                <a:latin typeface="Akrobat Bold" panose="00000800000000000000" pitchFamily="50" charset="-52"/>
              </a:rPr>
              <a:t>Отвечает на вопрос «Что должна выполнять система?», не отвечая на вопрос «Как она должна выполнять это?»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>
                <a:latin typeface="Akrobat Bold" panose="00000800000000000000" pitchFamily="50" charset="-52"/>
              </a:rPr>
              <a:t>Имена – отглагольное существительное или глагол в неопределенной форме</a:t>
            </a:r>
          </a:p>
        </p:txBody>
      </p:sp>
      <p:pic>
        <p:nvPicPr>
          <p:cNvPr id="28676" name="Picture 4" descr="Рис_03_2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4581525"/>
            <a:ext cx="3671888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6" descr="Рис_03_3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132263"/>
            <a:ext cx="2520950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7" descr="Рис_03_3б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5445125"/>
            <a:ext cx="2611438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04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41350"/>
            <a:ext cx="7993062" cy="4206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Актер (</a:t>
            </a:r>
            <a:r>
              <a:rPr lang="ru-RU" altLang="ru-RU" dirty="0" err="1" smtClean="0">
                <a:latin typeface="Akrobat ExtraBold" panose="00000900000000000000" pitchFamily="50" charset="-52"/>
              </a:rPr>
              <a:t>actor</a:t>
            </a:r>
            <a:r>
              <a:rPr lang="ru-RU" altLang="ru-RU" dirty="0" smtClean="0">
                <a:latin typeface="Akrobat ExtraBold" panose="00000900000000000000" pitchFamily="50" charset="-52"/>
              </a:rPr>
              <a:t>)</a:t>
            </a:r>
          </a:p>
        </p:txBody>
      </p:sp>
      <p:pic>
        <p:nvPicPr>
          <p:cNvPr id="29699" name="Picture 4" descr="Рис_03_4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5437188"/>
            <a:ext cx="1339850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5" descr="Рис_03_4б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5453063"/>
            <a:ext cx="2663825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6" descr="Рис_03_4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5221288"/>
            <a:ext cx="14620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52209" y="2151063"/>
            <a:ext cx="7848600" cy="30226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ru-RU" altLang="ru-RU" dirty="0" smtClean="0">
                <a:latin typeface="Akrobat Bold" panose="00000800000000000000" pitchFamily="50" charset="-52"/>
              </a:rPr>
              <a:t>любая внешняя по отношению к проектируемой системе сущность, которая взаимодействует с системой и использует ее функциональные возможности для достижения определенных целей или решения частных задач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i="1" dirty="0" smtClean="0">
                <a:solidFill>
                  <a:schemeClr val="tx2"/>
                </a:solidFill>
                <a:latin typeface="Akrobat Bold" panose="00000800000000000000" pitchFamily="50" charset="-52"/>
              </a:rPr>
              <a:t>Примеры актеров</a:t>
            </a:r>
            <a:r>
              <a:rPr lang="ru-RU" altLang="ru-RU" dirty="0" smtClean="0">
                <a:latin typeface="Akrobat Bold" panose="00000800000000000000" pitchFamily="50" charset="-52"/>
              </a:rPr>
              <a:t>: кассир, клиент банка, банковский служащий, президент, продавец магазина, менеджер отдела продаж, пассажир авиарейса, водитель автомобиля, администратор гостиницы, сотовый телефон</a:t>
            </a:r>
          </a:p>
        </p:txBody>
      </p:sp>
    </p:spTree>
    <p:extLst>
      <p:ext uri="{BB962C8B-B14F-4D97-AF65-F5344CB8AC3E}">
        <p14:creationId xmlns:p14="http://schemas.microsoft.com/office/powerpoint/2010/main" val="92045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525" y="990600"/>
            <a:ext cx="7265987" cy="838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Вопросы для идентификации актеров в системе</a:t>
            </a:r>
            <a:endParaRPr lang="en-US" altLang="ru-RU" dirty="0" smtClean="0">
              <a:latin typeface="Akrobat ExtraBold" panose="00000900000000000000" pitchFamily="50" charset="-5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856" y="2134998"/>
            <a:ext cx="7848600" cy="4343400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Какие организации или лица будут использовать систему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Кто будет получать пользу от использования системы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Кто будет использовать информацию от системы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Будет ли использовать система внешние ресурсы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Может ли один пользователь играть несколько ролей при взаимодействии с системой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Могут ли различные пользователи играть одну роль при взаимодействии с системой</a:t>
            </a:r>
          </a:p>
          <a:p>
            <a:pPr eaLnBrk="1" hangingPunct="1"/>
            <a:r>
              <a:rPr lang="ru-RU" altLang="ru-RU" dirty="0" smtClean="0">
                <a:latin typeface="Akrobat Bold" panose="00000800000000000000" pitchFamily="50" charset="-52"/>
              </a:rPr>
              <a:t>Будет ли система взаимодействовать с законодательными, исполнительными, налоговыми или другими органами</a:t>
            </a:r>
            <a:endParaRPr lang="en-US" altLang="ru-RU" dirty="0" smtClean="0">
              <a:latin typeface="Akrobat Bold" panose="000008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5043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554664" y="998086"/>
            <a:ext cx="8458200" cy="7921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Отношения на диаграмме вариантов использования </a:t>
            </a:r>
            <a:endParaRPr lang="en-US" altLang="ru-RU" dirty="0" smtClean="0">
              <a:latin typeface="Akrobat ExtraBold" panose="00000900000000000000" pitchFamily="50" charset="-52"/>
            </a:endParaRPr>
          </a:p>
        </p:txBody>
      </p:sp>
      <p:pic>
        <p:nvPicPr>
          <p:cNvPr id="31747" name="Picture 3" descr="UC_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21" y="2300288"/>
            <a:ext cx="7924800" cy="43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155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91033" y="738027"/>
            <a:ext cx="6240462" cy="558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Отношение ассоциации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432" y="2079349"/>
            <a:ext cx="8638666" cy="2692400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ru-RU" altLang="ru-RU" i="1" dirty="0" smtClean="0">
                <a:latin typeface="Akrobat Bold" panose="00000800000000000000" pitchFamily="50" charset="-52"/>
              </a:rPr>
              <a:t>Ассоциация </a:t>
            </a:r>
            <a:r>
              <a:rPr lang="ru-RU" altLang="ru-RU" dirty="0" smtClean="0">
                <a:latin typeface="Akrobat Bold" panose="00000800000000000000" pitchFamily="50" charset="-52"/>
              </a:rPr>
              <a:t>(</a:t>
            </a:r>
            <a:r>
              <a:rPr lang="ru-RU" altLang="ru-RU" dirty="0" err="1" smtClean="0">
                <a:latin typeface="Akrobat Bold" panose="00000800000000000000" pitchFamily="50" charset="-52"/>
              </a:rPr>
              <a:t>association</a:t>
            </a:r>
            <a:r>
              <a:rPr lang="ru-RU" altLang="ru-RU" dirty="0" smtClean="0">
                <a:latin typeface="Akrobat Bold" panose="00000800000000000000" pitchFamily="50" charset="-52"/>
              </a:rPr>
              <a:t>) является одним из фундаментальных понятий в языке UML 2.х и может использоваться на различных канонических диаграммах при построении визуальных моделей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dirty="0" smtClean="0">
                <a:latin typeface="Akrobat Bold" panose="00000800000000000000" pitchFamily="50" charset="-52"/>
              </a:rPr>
              <a:t>Применительно к диаграммам вариантов использования отношение ассоциации может служить только для обозначения взаимодействия актера с вариантом использования. </a:t>
            </a:r>
          </a:p>
        </p:txBody>
      </p:sp>
      <p:pic>
        <p:nvPicPr>
          <p:cNvPr id="32772" name="Picture 5" descr="Рис_03_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033" y="5067702"/>
            <a:ext cx="5807075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39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41350"/>
            <a:ext cx="7993062" cy="4206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Отношение включения 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691" y="1970088"/>
            <a:ext cx="8465278" cy="3124200"/>
          </a:xfrm>
        </p:spPr>
        <p:txBody>
          <a:bodyPr>
            <a:normAutofit fontScale="85000" lnSpcReduction="20000"/>
          </a:bodyPr>
          <a:lstStyle/>
          <a:p>
            <a:pPr algn="just" eaLnBrk="1" hangingPunct="1"/>
            <a:r>
              <a:rPr lang="ru-RU" altLang="ru-RU" dirty="0" smtClean="0">
                <a:latin typeface="Akrobat Bold" panose="00000800000000000000" pitchFamily="50" charset="-52"/>
              </a:rPr>
              <a:t>Отношение </a:t>
            </a:r>
            <a:r>
              <a:rPr lang="ru-RU" altLang="ru-RU" i="1" dirty="0" smtClean="0">
                <a:latin typeface="Akrobat Bold" panose="00000800000000000000" pitchFamily="50" charset="-52"/>
              </a:rPr>
              <a:t>зависимости</a:t>
            </a:r>
            <a:r>
              <a:rPr lang="ru-RU" altLang="ru-RU" dirty="0" smtClean="0">
                <a:latin typeface="Akrobat Bold" panose="00000800000000000000" pitchFamily="50" charset="-52"/>
              </a:rPr>
              <a:t> </a:t>
            </a:r>
            <a:r>
              <a:rPr lang="ru-RU" altLang="ru-RU" i="1" dirty="0" smtClean="0">
                <a:latin typeface="Akrobat Bold" panose="00000800000000000000" pitchFamily="50" charset="-52"/>
              </a:rPr>
              <a:t>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dependency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определяется как форма взаимосвязи между двумя элементами модели, предназначенная для спецификации того обстоятельства, что изменение одного элемента модели приводит к изменению некоторого другого элемента</a:t>
            </a:r>
          </a:p>
          <a:p>
            <a:pPr algn="just" eaLnBrk="1" hangingPunct="1"/>
            <a:r>
              <a:rPr lang="ru-RU" altLang="ru-RU" dirty="0" smtClean="0">
                <a:latin typeface="Akrobat Bold" panose="00000800000000000000" pitchFamily="50" charset="-52"/>
              </a:rPr>
              <a:t>Отношение </a:t>
            </a:r>
            <a:r>
              <a:rPr lang="ru-RU" altLang="ru-RU" i="1" dirty="0" smtClean="0">
                <a:latin typeface="Akrobat Bold" panose="00000800000000000000" pitchFamily="50" charset="-52"/>
              </a:rPr>
              <a:t>включения</a:t>
            </a:r>
            <a:r>
              <a:rPr lang="ru-RU" altLang="ru-RU" dirty="0" smtClean="0">
                <a:latin typeface="Akrobat Bold" panose="00000800000000000000" pitchFamily="50" charset="-52"/>
              </a:rPr>
              <a:t> </a:t>
            </a:r>
            <a:r>
              <a:rPr lang="ru-RU" altLang="ru-RU" i="1" dirty="0" smtClean="0">
                <a:latin typeface="Akrobat Bold" panose="00000800000000000000" pitchFamily="50" charset="-52"/>
              </a:rPr>
              <a:t>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include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специфицирует тот факт, что некоторый вариант использования содержит поведение, определенное в другом варианте использования </a:t>
            </a:r>
          </a:p>
        </p:txBody>
      </p:sp>
      <p:pic>
        <p:nvPicPr>
          <p:cNvPr id="33796" name="Picture 4" descr="Рис_03_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8"/>
          <a:stretch/>
        </p:blipFill>
        <p:spPr bwMode="auto">
          <a:xfrm>
            <a:off x="1709737" y="5356225"/>
            <a:ext cx="6659563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46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42988" y="641350"/>
            <a:ext cx="7993062" cy="4206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Отношение расширения 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72357" y="2068512"/>
            <a:ext cx="7675562" cy="1973263"/>
          </a:xfrm>
        </p:spPr>
        <p:txBody>
          <a:bodyPr>
            <a:normAutofit fontScale="77500" lnSpcReduction="20000"/>
          </a:bodyPr>
          <a:lstStyle/>
          <a:p>
            <a:pPr algn="just" eaLnBrk="1" hangingPunct="1"/>
            <a:r>
              <a:rPr lang="ru-RU" altLang="ru-RU" dirty="0" smtClean="0">
                <a:latin typeface="Akrobat Bold" panose="00000800000000000000" pitchFamily="50" charset="-52"/>
              </a:rPr>
              <a:t>Отношение </a:t>
            </a:r>
            <a:r>
              <a:rPr lang="ru-RU" altLang="ru-RU" i="1" dirty="0" smtClean="0">
                <a:latin typeface="Akrobat Bold" panose="00000800000000000000" pitchFamily="50" charset="-52"/>
              </a:rPr>
              <a:t>расширения 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extend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определяет взаимосвязь одного варианта использования с некоторым другим вариантом использования, функциональность или поведение которого задействуется первым не всегда, а только при выполнении некоторых дополнительных условий</a:t>
            </a:r>
            <a:r>
              <a:rPr lang="ru-RU" altLang="ru-RU" dirty="0" smtClean="0"/>
              <a:t>. </a:t>
            </a:r>
          </a:p>
        </p:txBody>
      </p:sp>
      <p:pic>
        <p:nvPicPr>
          <p:cNvPr id="34820" name="Picture 1028" descr="Рис_03_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05" y="5023009"/>
            <a:ext cx="7886914" cy="1834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82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54214"/>
            <a:ext cx="6959600" cy="1150937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Изображение отношения расширения с условием выполнения</a:t>
            </a:r>
          </a:p>
        </p:txBody>
      </p:sp>
      <p:pic>
        <p:nvPicPr>
          <p:cNvPr id="35843" name="Picture 4" descr="Рис_03_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8" y="2400300"/>
            <a:ext cx="9000756" cy="4204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52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593725"/>
            <a:ext cx="7993062" cy="46831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b="1" dirty="0" smtClean="0">
                <a:latin typeface="Akrobat ExtraBold" panose="00000900000000000000" pitchFamily="50" charset="-52"/>
              </a:rPr>
              <a:t>Отношение обобщения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11337"/>
            <a:ext cx="8946189" cy="1584325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ru-RU" altLang="ru-RU" i="1" dirty="0" smtClean="0">
                <a:latin typeface="Akrobat Bold" panose="00000800000000000000" pitchFamily="50" charset="-52"/>
              </a:rPr>
              <a:t>Отношение</a:t>
            </a:r>
            <a:r>
              <a:rPr lang="ru-RU" altLang="ru-RU" dirty="0" smtClean="0">
                <a:latin typeface="Akrobat Bold" panose="00000800000000000000" pitchFamily="50" charset="-52"/>
              </a:rPr>
              <a:t> </a:t>
            </a:r>
            <a:r>
              <a:rPr lang="ru-RU" altLang="ru-RU" i="1" dirty="0" smtClean="0">
                <a:latin typeface="Akrobat Bold" panose="00000800000000000000" pitchFamily="50" charset="-52"/>
              </a:rPr>
              <a:t>обобщения</a:t>
            </a:r>
            <a:r>
              <a:rPr lang="ru-RU" altLang="ru-RU" dirty="0" smtClean="0">
                <a:latin typeface="Akrobat Bold" panose="00000800000000000000" pitchFamily="50" charset="-52"/>
              </a:rPr>
              <a:t> </a:t>
            </a:r>
            <a:r>
              <a:rPr lang="ru-RU" altLang="ru-RU" i="1" dirty="0" smtClean="0">
                <a:latin typeface="Akrobat Bold" panose="00000800000000000000" pitchFamily="50" charset="-52"/>
              </a:rPr>
              <a:t>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generalization</a:t>
            </a:r>
            <a:r>
              <a:rPr lang="ru-RU" altLang="ru-RU" i="1" dirty="0" smtClean="0">
                <a:latin typeface="Akrobat Bold" panose="00000800000000000000" pitchFamily="50" charset="-52"/>
              </a:rPr>
              <a:t> 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relationship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предназначено для спецификации того факта, что один элемент модели является специальным или частным случаем другого элемента модели</a:t>
            </a:r>
          </a:p>
        </p:txBody>
      </p:sp>
      <p:pic>
        <p:nvPicPr>
          <p:cNvPr id="36868" name="Picture 4" descr="Рис_03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48" y="3548062"/>
            <a:ext cx="8708641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6" descr="Рис_03_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822" y="5216525"/>
            <a:ext cx="431323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83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title"/>
          </p:nvPr>
        </p:nvSpPr>
        <p:spPr>
          <a:xfrm>
            <a:off x="1879600" y="0"/>
            <a:ext cx="58674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2000" dirty="0" smtClean="0">
                <a:latin typeface="Akrobat ExtraBold" panose="00000900000000000000" pitchFamily="50" charset="-52"/>
              </a:rPr>
              <a:t>Пример диаграммы </a:t>
            </a:r>
            <a:r>
              <a:rPr lang="ru-RU" altLang="ru-RU" sz="2000" dirty="0" smtClean="0">
                <a:latin typeface="Akrobat ExtraBold" panose="00000900000000000000" pitchFamily="50" charset="-52"/>
              </a:rPr>
              <a:t>вариантов использования </a:t>
            </a:r>
            <a:r>
              <a:rPr lang="ru-RU" altLang="ru-RU" sz="2000" dirty="0" smtClean="0">
                <a:latin typeface="Akrobat ExtraBold" panose="00000900000000000000" pitchFamily="50" charset="-52"/>
              </a:rPr>
              <a:t>для системы продажи товаров в Интернет-магазине</a:t>
            </a:r>
          </a:p>
        </p:txBody>
      </p:sp>
      <p:pic>
        <p:nvPicPr>
          <p:cNvPr id="37891" name="Picture 2057" descr="Рис_03_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79018"/>
            <a:ext cx="7771789" cy="5878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18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5565" y="666750"/>
            <a:ext cx="7850187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 smtClean="0">
                <a:latin typeface="Akrobat ExtraBold" panose="00000900000000000000" pitchFamily="50" charset="-52"/>
              </a:rPr>
              <a:t>Формализация функциональных требований с помощью диаграммы ВИ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0294" y="2167783"/>
            <a:ext cx="8480730" cy="4608512"/>
          </a:xfrm>
        </p:spPr>
        <p:txBody>
          <a:bodyPr>
            <a:normAutofit fontScale="85000" lnSpcReduction="20000"/>
          </a:bodyPr>
          <a:lstStyle/>
          <a:p>
            <a:pPr algn="just" eaLnBrk="1" hangingPunct="1"/>
            <a:r>
              <a:rPr lang="ru-RU" altLang="ru-RU" i="1" dirty="0" smtClean="0">
                <a:latin typeface="Akrobat Bold" panose="00000800000000000000" pitchFamily="50" charset="-52"/>
              </a:rPr>
              <a:t>Требование (</a:t>
            </a:r>
            <a:r>
              <a:rPr lang="ru-RU" altLang="ru-RU" i="1" dirty="0" err="1" smtClean="0">
                <a:latin typeface="Akrobat Bold" panose="00000800000000000000" pitchFamily="50" charset="-52"/>
              </a:rPr>
              <a:t>requirement</a:t>
            </a:r>
            <a:r>
              <a:rPr lang="ru-RU" altLang="ru-RU" i="1" dirty="0" smtClean="0">
                <a:latin typeface="Akrobat Bold" panose="00000800000000000000" pitchFamily="50" charset="-52"/>
              </a:rPr>
              <a:t>)</a:t>
            </a:r>
            <a:r>
              <a:rPr lang="ru-RU" altLang="ru-RU" dirty="0" smtClean="0">
                <a:latin typeface="Akrobat Bold" panose="00000800000000000000" pitchFamily="50" charset="-52"/>
              </a:rPr>
              <a:t> – желательное свойство, характеристика или условие, которым должна удовлетворять система в процессе своей эксплуатации</a:t>
            </a:r>
          </a:p>
          <a:p>
            <a:pPr algn="just" eaLnBrk="1" hangingPunct="1">
              <a:lnSpc>
                <a:spcPct val="95000"/>
              </a:lnSpc>
              <a:spcBef>
                <a:spcPct val="25000"/>
              </a:spcBef>
            </a:pPr>
            <a:r>
              <a:rPr lang="ru-RU" altLang="ru-RU" i="1" dirty="0" smtClean="0">
                <a:latin typeface="Akrobat Bold" panose="00000800000000000000" pitchFamily="50" charset="-52"/>
              </a:rPr>
              <a:t>Требование к ПО</a:t>
            </a:r>
            <a:r>
              <a:rPr lang="ru-RU" altLang="ru-RU" dirty="0" smtClean="0">
                <a:latin typeface="Akrobat Bold" panose="00000800000000000000" pitchFamily="50" charset="-52"/>
              </a:rPr>
              <a:t> – некоторое свойство ПО, которым должна обладать система или ее компонент, чтобы удовлетворять условиям контракта, положениям стандартов, формальной спецификации или технической документации</a:t>
            </a:r>
          </a:p>
          <a:p>
            <a:pPr algn="just" eaLnBrk="1" hangingPunct="1">
              <a:lnSpc>
                <a:spcPct val="95000"/>
              </a:lnSpc>
              <a:spcBef>
                <a:spcPct val="25000"/>
              </a:spcBef>
            </a:pPr>
            <a:r>
              <a:rPr lang="ru-RU" altLang="ru-RU" i="1" dirty="0" smtClean="0">
                <a:latin typeface="Akrobat Bold" panose="00000800000000000000" pitchFamily="50" charset="-52"/>
              </a:rPr>
              <a:t>Управление требованиями</a:t>
            </a:r>
            <a:r>
              <a:rPr lang="ru-RU" altLang="ru-RU" dirty="0" smtClean="0">
                <a:latin typeface="Akrobat Bold" panose="00000800000000000000" pitchFamily="50" charset="-52"/>
              </a:rPr>
              <a:t> – это систематический подход к выявлению, организации и документированию требований к системе, а также процесс, в ходе которого вырабатывается и обеспечивается соглашение между заказчиком и разработчиком по поводу меняющихся требований к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197124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120" y="622853"/>
            <a:ext cx="65857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Akrobat ExtraBold" panose="00000900000000000000" pitchFamily="50" charset="-52"/>
              </a:rPr>
              <a:t>Описание прецеденты 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3461" y="2332383"/>
            <a:ext cx="83753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Понятное имя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Краткость – главное понять смысл без технических деталей («что», а не «как»)</a:t>
            </a:r>
          </a:p>
          <a:p>
            <a:pPr algn="just"/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Правильное разделение действующих лиц на главные (инициатор) и второстепенные роли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Заполнять только самые важные пункты (свободная форма или по формату </a:t>
            </a:r>
            <a:r>
              <a:rPr lang="en-US" sz="2000" dirty="0" err="1" smtClean="0">
                <a:latin typeface="Akrobat ExtraBold" panose="00000900000000000000" pitchFamily="50" charset="-52"/>
              </a:rPr>
              <a:t>alistair.cockburn</a:t>
            </a:r>
            <a:r>
              <a:rPr lang="en-US" sz="2000" dirty="0">
                <a:latin typeface="Akrobat ExtraBold" panose="00000900000000000000" pitchFamily="50" charset="-52"/>
              </a:rPr>
              <a:t>)</a:t>
            </a:r>
            <a:endParaRPr lang="ru-RU" sz="2000" dirty="0" smtClean="0">
              <a:latin typeface="Akrobat ExtraBold" panose="00000900000000000000" pitchFamily="50" charset="-52"/>
            </a:endParaRPr>
          </a:p>
          <a:p>
            <a:endParaRPr lang="ru-RU" sz="2000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510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080053"/>
            <a:ext cx="6619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Akrobat ExtraBold" panose="00000900000000000000" pitchFamily="50" charset="-52"/>
              </a:rPr>
              <a:t>Последовательность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3461" y="2789583"/>
            <a:ext cx="83753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Описать основные возможности программы (мозговой штурм)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Составить список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Разделить по смыслу на группы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Выделить сценарии</a:t>
            </a:r>
          </a:p>
          <a:p>
            <a:pPr algn="just"/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Akrobat ExtraBold" panose="00000900000000000000" pitchFamily="50" charset="-52"/>
              </a:rPr>
              <a:t>Описать </a:t>
            </a:r>
            <a:r>
              <a:rPr lang="en-US" sz="2000" dirty="0" err="1" smtClean="0">
                <a:latin typeface="Akrobat ExtraBold" panose="00000900000000000000" pitchFamily="50" charset="-52"/>
              </a:rPr>
              <a:t>UseCase</a:t>
            </a:r>
            <a:endParaRPr lang="ru-RU" sz="2000" dirty="0" smtClean="0">
              <a:latin typeface="Akrobat ExtraBold" panose="00000900000000000000" pitchFamily="50" charset="-52"/>
            </a:endParaRPr>
          </a:p>
          <a:p>
            <a:pPr algn="just"/>
            <a:endParaRPr lang="ru-RU" sz="2000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3849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9900" y="0"/>
            <a:ext cx="6565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Akrobat ExtraBold" panose="00000900000000000000" pitchFamily="50" charset="-52"/>
              </a:rPr>
              <a:t>Адресная книга (мозговой штурм)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204" y="1194911"/>
            <a:ext cx="831739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Не слишком сложное, попроще, чтобы </a:t>
            </a:r>
            <a:r>
              <a:rPr lang="ru-RU" dirty="0" smtClean="0">
                <a:latin typeface="Akrobat ExtraBold" panose="00000900000000000000" pitchFamily="50" charset="-52"/>
              </a:rPr>
              <a:t/>
            </a:r>
            <a:br>
              <a:rPr lang="ru-RU" dirty="0" smtClean="0">
                <a:latin typeface="Akrobat ExtraBold" panose="00000900000000000000" pitchFamily="50" charset="-52"/>
              </a:rPr>
            </a:br>
            <a:r>
              <a:rPr lang="ru-RU" dirty="0" smtClean="0">
                <a:latin typeface="Akrobat ExtraBold" panose="00000900000000000000" pitchFamily="50" charset="-52"/>
              </a:rPr>
              <a:t>познакомиться </a:t>
            </a:r>
            <a:r>
              <a:rPr lang="ru-RU" dirty="0" smtClean="0">
                <a:latin typeface="Akrobat ExtraBold" panose="00000900000000000000" pitchFamily="50" charset="-52"/>
              </a:rPr>
              <a:t>с технологиями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Хранение пользователей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Редактирование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Поиск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Удаление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Добавление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Сортировка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Удобное отображение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Резиновый дизайн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Видна основная информация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Локальное или распределенное приложение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Десктоп или веб?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err="1" smtClean="0">
                <a:latin typeface="Akrobat ExtraBold" panose="00000900000000000000" pitchFamily="50" charset="-52"/>
              </a:rPr>
              <a:t>Юзабилити</a:t>
            </a:r>
            <a:endParaRPr lang="ru-RU" dirty="0" smtClean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Всплывающие подсказки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Красивый интерфейс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Индикаторы загрузки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Проверка введенных данных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Маски для ввода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Переключение языков</a:t>
            </a:r>
          </a:p>
          <a:p>
            <a:pPr algn="just"/>
            <a:endParaRPr lang="ru-RU" sz="2000" dirty="0">
              <a:latin typeface="Akrobat ExtraBold" panose="000009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570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8312" y="251792"/>
            <a:ext cx="56989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Akrobat ExtraBold" panose="00000900000000000000" pitchFamily="50" charset="-52"/>
              </a:rPr>
              <a:t>Смысловые группы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357349"/>
            <a:ext cx="837537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Akrobat ExtraBold" panose="00000900000000000000" pitchFamily="50" charset="-52"/>
              </a:rPr>
              <a:t>GUI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Удобное отображение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Удобный интерфейс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Резиновый дизайн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Видна основная информация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err="1">
                <a:latin typeface="Akrobat ExtraBold" panose="00000900000000000000" pitchFamily="50" charset="-52"/>
              </a:rPr>
              <a:t>Юзабилити</a:t>
            </a:r>
            <a:endParaRPr lang="ru-RU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Всплывающие подсказки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Красивый интерфейс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Индикаторы загрузки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Проверка введенных данных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Маски для ввода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 smtClean="0">
                <a:latin typeface="Akrobat ExtraBold" panose="00000900000000000000" pitchFamily="50" charset="-52"/>
              </a:rPr>
              <a:t>Горячие клавиши</a:t>
            </a:r>
            <a:endParaRPr lang="ru-RU" dirty="0">
              <a:latin typeface="Akrobat ExtraBold" panose="00000900000000000000" pitchFamily="50" charset="-52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ru-RU" dirty="0" smtClean="0">
              <a:latin typeface="Akrobat ExtraBold" panose="00000900000000000000" pitchFamily="50" charset="-52"/>
            </a:endParaRPr>
          </a:p>
          <a:p>
            <a:pPr algn="just"/>
            <a:endParaRPr lang="ru-RU" sz="2000" dirty="0">
              <a:latin typeface="Akrobat ExtraBold" panose="00000900000000000000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860" y="1751911"/>
            <a:ext cx="4099340" cy="521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krobat ExtraBold" panose="00000900000000000000" pitchFamily="50" charset="-52"/>
              </a:rPr>
              <a:t>Процессы: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Хранение пользователей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Редактирование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Поиск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Удаление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Добавление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Сортировка</a:t>
            </a:r>
          </a:p>
          <a:p>
            <a:pPr algn="just"/>
            <a:endParaRPr lang="ru-RU" dirty="0" smtClean="0">
              <a:latin typeface="Akrobat ExtraBold" panose="00000900000000000000" pitchFamily="50" charset="-52"/>
            </a:endParaRPr>
          </a:p>
          <a:p>
            <a:pPr algn="just"/>
            <a:endParaRPr lang="ru-RU" dirty="0">
              <a:latin typeface="Akrobat ExtraBold" panose="00000900000000000000" pitchFamily="50" charset="-52"/>
            </a:endParaRPr>
          </a:p>
          <a:p>
            <a:pPr algn="just"/>
            <a:r>
              <a:rPr lang="ru-RU" dirty="0" smtClean="0">
                <a:latin typeface="Akrobat ExtraBold" panose="00000900000000000000" pitchFamily="50" charset="-52"/>
              </a:rPr>
              <a:t>Дополнительно</a:t>
            </a: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Локальное или распределенное приложение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Десктоп или веб?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Не слишком сложное, попроще, чтобы познакомиться с технологиями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756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759</TotalTime>
  <Words>1179</Words>
  <Application>Microsoft Office PowerPoint</Application>
  <PresentationFormat>Экран (4:3)</PresentationFormat>
  <Paragraphs>223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Akrobat Bold</vt:lpstr>
      <vt:lpstr>Akrobat ExtraBold</vt:lpstr>
      <vt:lpstr>Arial</vt:lpstr>
      <vt:lpstr>Calibri</vt:lpstr>
      <vt:lpstr>Wingdings</vt:lpstr>
      <vt:lpstr>Office Theme</vt:lpstr>
      <vt:lpstr>Презентация PowerPoint</vt:lpstr>
      <vt:lpstr>Презентация PowerPoint</vt:lpstr>
      <vt:lpstr>UML(Unified Modeling Language)</vt:lpstr>
      <vt:lpstr>Презентация PowerPoint</vt:lpstr>
      <vt:lpstr>Кто может использовать UML</vt:lpstr>
      <vt:lpstr>Плюсы</vt:lpstr>
      <vt:lpstr>Минусы</vt:lpstr>
      <vt:lpstr>Типы диаграмм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вариантов использования (use case diagram)</vt:lpstr>
      <vt:lpstr>Назначение диаграммы вариантов использования</vt:lpstr>
      <vt:lpstr>Проектируемая система и ее окружение</vt:lpstr>
      <vt:lpstr>Презентация PowerPoint</vt:lpstr>
      <vt:lpstr>Основные обозначения на диаграмме вариантов использования</vt:lpstr>
      <vt:lpstr>Вариант использования  (use case)</vt:lpstr>
      <vt:lpstr>Актер (actor)</vt:lpstr>
      <vt:lpstr>Вопросы для идентификации актеров в системе</vt:lpstr>
      <vt:lpstr>Отношения на диаграмме вариантов использования </vt:lpstr>
      <vt:lpstr>Отношение ассоциации </vt:lpstr>
      <vt:lpstr>Отношение включения </vt:lpstr>
      <vt:lpstr>Отношение расширения </vt:lpstr>
      <vt:lpstr>Изображение отношения расширения с условием выполнения</vt:lpstr>
      <vt:lpstr>Отношение обобщения </vt:lpstr>
      <vt:lpstr>Пример диаграммы вариантов использования для системы продажи товаров в Интернет-магазине</vt:lpstr>
      <vt:lpstr>Формализация функциональных требований с помощью диаграммы ВИ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PJSC "New Engineering Technologies"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Кривоносова Н В</dc:creator>
  <cp:lastModifiedBy>raja</cp:lastModifiedBy>
  <cp:revision>160</cp:revision>
  <dcterms:created xsi:type="dcterms:W3CDTF">2016-11-18T14:12:19Z</dcterms:created>
  <dcterms:modified xsi:type="dcterms:W3CDTF">2020-01-20T15:51:15Z</dcterms:modified>
</cp:coreProperties>
</file>