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374" r:id="rId2"/>
    <p:sldId id="264" r:id="rId3"/>
    <p:sldId id="382" r:id="rId4"/>
    <p:sldId id="383" r:id="rId5"/>
    <p:sldId id="384" r:id="rId6"/>
    <p:sldId id="385" r:id="rId7"/>
    <p:sldId id="386" r:id="rId8"/>
    <p:sldId id="387" r:id="rId9"/>
    <p:sldId id="388" r:id="rId10"/>
    <p:sldId id="272" r:id="rId11"/>
    <p:sldId id="273" r:id="rId12"/>
    <p:sldId id="274" r:id="rId13"/>
    <p:sldId id="275" r:id="rId14"/>
    <p:sldId id="276" r:id="rId15"/>
    <p:sldId id="280" r:id="rId16"/>
    <p:sldId id="277" r:id="rId17"/>
    <p:sldId id="278" r:id="rId18"/>
    <p:sldId id="389" r:id="rId19"/>
    <p:sldId id="390" r:id="rId20"/>
    <p:sldId id="391" r:id="rId21"/>
    <p:sldId id="392" r:id="rId22"/>
    <p:sldId id="393" r:id="rId23"/>
    <p:sldId id="394" r:id="rId24"/>
    <p:sldId id="395" r:id="rId25"/>
    <p:sldId id="419" r:id="rId26"/>
    <p:sldId id="397" r:id="rId27"/>
    <p:sldId id="398" r:id="rId28"/>
    <p:sldId id="399" r:id="rId29"/>
    <p:sldId id="400" r:id="rId30"/>
    <p:sldId id="401" r:id="rId31"/>
    <p:sldId id="402" r:id="rId32"/>
    <p:sldId id="416" r:id="rId33"/>
    <p:sldId id="417" r:id="rId34"/>
    <p:sldId id="418" r:id="rId35"/>
    <p:sldId id="283" r:id="rId36"/>
    <p:sldId id="287" r:id="rId37"/>
    <p:sldId id="286" r:id="rId38"/>
    <p:sldId id="289" r:id="rId39"/>
    <p:sldId id="290" r:id="rId40"/>
    <p:sldId id="291" r:id="rId4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4D068C2-EC5B-1E45-9880-E73D8C35C612}">
          <p14:sldIdLst>
            <p14:sldId id="374"/>
          </p14:sldIdLst>
        </p14:section>
        <p14:section name="UML - Intro" id="{B14E9AEC-1DB2-C74A-8696-A13E87BC8265}">
          <p14:sldIdLst>
            <p14:sldId id="264"/>
            <p14:sldId id="382"/>
            <p14:sldId id="383"/>
            <p14:sldId id="384"/>
            <p14:sldId id="385"/>
            <p14:sldId id="386"/>
            <p14:sldId id="387"/>
            <p14:sldId id="388"/>
            <p14:sldId id="272"/>
            <p14:sldId id="273"/>
            <p14:sldId id="274"/>
            <p14:sldId id="275"/>
            <p14:sldId id="276"/>
            <p14:sldId id="280"/>
            <p14:sldId id="277"/>
            <p14:sldId id="278"/>
          </p14:sldIdLst>
        </p14:section>
        <p14:section name="UML - Use Case" id="{DDFB2534-08CF-9345-B7B3-A4A0CD70B28A}">
          <p14:sldIdLst>
            <p14:sldId id="389"/>
            <p14:sldId id="390"/>
            <p14:sldId id="391"/>
            <p14:sldId id="392"/>
            <p14:sldId id="393"/>
            <p14:sldId id="394"/>
            <p14:sldId id="395"/>
            <p14:sldId id="419"/>
            <p14:sldId id="397"/>
            <p14:sldId id="398"/>
            <p14:sldId id="399"/>
            <p14:sldId id="400"/>
            <p14:sldId id="401"/>
            <p14:sldId id="402"/>
          </p14:sldIdLst>
        </p14:section>
        <p14:section name="UML - Sequence" id="{6C2ABA33-E6A8-464F-B418-135BCA073507}">
          <p14:sldIdLst>
            <p14:sldId id="416"/>
            <p14:sldId id="417"/>
            <p14:sldId id="418"/>
            <p14:sldId id="283"/>
            <p14:sldId id="287"/>
            <p14:sldId id="286"/>
            <p14:sldId id="289"/>
            <p14:sldId id="290"/>
            <p14:sldId id="291"/>
          </p14:sldIdLst>
        </p14:section>
        <p14:section name="СР" id="{967130D5-1CFF-4B3A-AA4F-3A64031BDE20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014" autoAdjust="0"/>
    <p:restoredTop sz="94586"/>
  </p:normalViewPr>
  <p:slideViewPr>
    <p:cSldViewPr snapToGrid="0" snapToObjects="1">
      <p:cViewPr varScale="1">
        <p:scale>
          <a:sx n="62" d="100"/>
          <a:sy n="62" d="100"/>
        </p:scale>
        <p:origin x="90" y="9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EE89E28-9DED-4845-A53C-45DECD8178F0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5874B37A-FB30-4669-AE1E-C4BCB02B4E96}">
      <dgm:prSet phldrT="[Текст]"/>
      <dgm:spPr/>
      <dgm:t>
        <a:bodyPr/>
        <a:lstStyle/>
        <a:p>
          <a:r>
            <a:rPr lang="ru-RU" dirty="0">
              <a:latin typeface="Akrobat ExtraBold" panose="00000900000000000000" pitchFamily="50" charset="-52"/>
            </a:rPr>
            <a:t>Проектирование</a:t>
          </a:r>
        </a:p>
      </dgm:t>
    </dgm:pt>
    <dgm:pt modelId="{CDFE91C7-91A9-4395-BBD2-0D00B4ECFE0E}" type="parTrans" cxnId="{51E1A6BD-45A3-481A-A928-2C8BE9E1B39A}">
      <dgm:prSet/>
      <dgm:spPr/>
      <dgm:t>
        <a:bodyPr/>
        <a:lstStyle/>
        <a:p>
          <a:endParaRPr lang="ru-RU"/>
        </a:p>
      </dgm:t>
    </dgm:pt>
    <dgm:pt modelId="{445853A5-BC88-425F-BADF-8E35CD7021D4}" type="sibTrans" cxnId="{51E1A6BD-45A3-481A-A928-2C8BE9E1B39A}">
      <dgm:prSet/>
      <dgm:spPr/>
      <dgm:t>
        <a:bodyPr/>
        <a:lstStyle/>
        <a:p>
          <a:endParaRPr lang="ru-RU"/>
        </a:p>
      </dgm:t>
    </dgm:pt>
    <dgm:pt modelId="{EC2BD6C9-3A4D-4AF5-9CDA-8BA43419F43E}">
      <dgm:prSet phldrT="[Текст]"/>
      <dgm:spPr/>
      <dgm:t>
        <a:bodyPr/>
        <a:lstStyle/>
        <a:p>
          <a:r>
            <a:rPr lang="ru-RU" dirty="0">
              <a:latin typeface="Akrobat ExtraBold" panose="00000900000000000000" pitchFamily="50" charset="-52"/>
            </a:rPr>
            <a:t>Кодирование</a:t>
          </a:r>
        </a:p>
      </dgm:t>
    </dgm:pt>
    <dgm:pt modelId="{C0383D6A-0EAD-4919-82B8-9B2736DB58F3}" type="parTrans" cxnId="{8DEA5AB2-8F36-4103-97AB-560C4B007F39}">
      <dgm:prSet/>
      <dgm:spPr/>
      <dgm:t>
        <a:bodyPr/>
        <a:lstStyle/>
        <a:p>
          <a:endParaRPr lang="ru-RU"/>
        </a:p>
      </dgm:t>
    </dgm:pt>
    <dgm:pt modelId="{D10CFC31-13B3-4B2D-BEBA-0FC5B2ABEBAA}" type="sibTrans" cxnId="{8DEA5AB2-8F36-4103-97AB-560C4B007F39}">
      <dgm:prSet/>
      <dgm:spPr/>
      <dgm:t>
        <a:bodyPr/>
        <a:lstStyle/>
        <a:p>
          <a:endParaRPr lang="ru-RU"/>
        </a:p>
      </dgm:t>
    </dgm:pt>
    <dgm:pt modelId="{28DBD97C-D670-4C75-BFAE-DDE6A2D20313}" type="pres">
      <dgm:prSet presAssocID="{9EE89E28-9DED-4845-A53C-45DECD8178F0}" presName="CompostProcess" presStyleCnt="0">
        <dgm:presLayoutVars>
          <dgm:dir/>
          <dgm:resizeHandles val="exact"/>
        </dgm:presLayoutVars>
      </dgm:prSet>
      <dgm:spPr/>
    </dgm:pt>
    <dgm:pt modelId="{2A338DE3-D829-4CE4-8B29-FE015BF1F779}" type="pres">
      <dgm:prSet presAssocID="{9EE89E28-9DED-4845-A53C-45DECD8178F0}" presName="arrow" presStyleLbl="bgShp" presStyleIdx="0" presStyleCnt="1"/>
      <dgm:spPr/>
    </dgm:pt>
    <dgm:pt modelId="{5EC73684-B237-4858-9811-9DE91A9B8426}" type="pres">
      <dgm:prSet presAssocID="{9EE89E28-9DED-4845-A53C-45DECD8178F0}" presName="linearProcess" presStyleCnt="0"/>
      <dgm:spPr/>
    </dgm:pt>
    <dgm:pt modelId="{A401FE18-FED4-4BC9-B59C-B55DA24CC89F}" type="pres">
      <dgm:prSet presAssocID="{5874B37A-FB30-4669-AE1E-C4BCB02B4E96}" presName="textNode" presStyleLbl="node1" presStyleIdx="0" presStyleCnt="2">
        <dgm:presLayoutVars>
          <dgm:bulletEnabled val="1"/>
        </dgm:presLayoutVars>
      </dgm:prSet>
      <dgm:spPr/>
    </dgm:pt>
    <dgm:pt modelId="{F133ACC7-4050-4BC3-8F93-828831B26FE8}" type="pres">
      <dgm:prSet presAssocID="{445853A5-BC88-425F-BADF-8E35CD7021D4}" presName="sibTrans" presStyleCnt="0"/>
      <dgm:spPr/>
    </dgm:pt>
    <dgm:pt modelId="{ECD82E47-E458-4C8B-8580-CE109E1867AE}" type="pres">
      <dgm:prSet presAssocID="{EC2BD6C9-3A4D-4AF5-9CDA-8BA43419F43E}" presName="textNode" presStyleLbl="node1" presStyleIdx="1" presStyleCnt="2">
        <dgm:presLayoutVars>
          <dgm:bulletEnabled val="1"/>
        </dgm:presLayoutVars>
      </dgm:prSet>
      <dgm:spPr/>
    </dgm:pt>
  </dgm:ptLst>
  <dgm:cxnLst>
    <dgm:cxn modelId="{1097A880-97B8-4997-AF4F-1976E8884C3F}" type="presOf" srcId="{9EE89E28-9DED-4845-A53C-45DECD8178F0}" destId="{28DBD97C-D670-4C75-BFAE-DDE6A2D20313}" srcOrd="0" destOrd="0" presId="urn:microsoft.com/office/officeart/2005/8/layout/hProcess9"/>
    <dgm:cxn modelId="{37E420A4-0B5D-4CDB-9D0F-0CD6400E2FDC}" type="presOf" srcId="{EC2BD6C9-3A4D-4AF5-9CDA-8BA43419F43E}" destId="{ECD82E47-E458-4C8B-8580-CE109E1867AE}" srcOrd="0" destOrd="0" presId="urn:microsoft.com/office/officeart/2005/8/layout/hProcess9"/>
    <dgm:cxn modelId="{8DEA5AB2-8F36-4103-97AB-560C4B007F39}" srcId="{9EE89E28-9DED-4845-A53C-45DECD8178F0}" destId="{EC2BD6C9-3A4D-4AF5-9CDA-8BA43419F43E}" srcOrd="1" destOrd="0" parTransId="{C0383D6A-0EAD-4919-82B8-9B2736DB58F3}" sibTransId="{D10CFC31-13B3-4B2D-BEBA-0FC5B2ABEBAA}"/>
    <dgm:cxn modelId="{51E1A6BD-45A3-481A-A928-2C8BE9E1B39A}" srcId="{9EE89E28-9DED-4845-A53C-45DECD8178F0}" destId="{5874B37A-FB30-4669-AE1E-C4BCB02B4E96}" srcOrd="0" destOrd="0" parTransId="{CDFE91C7-91A9-4395-BBD2-0D00B4ECFE0E}" sibTransId="{445853A5-BC88-425F-BADF-8E35CD7021D4}"/>
    <dgm:cxn modelId="{D73E0FD4-4B8D-4FE7-AD8A-42966C90C443}" type="presOf" srcId="{5874B37A-FB30-4669-AE1E-C4BCB02B4E96}" destId="{A401FE18-FED4-4BC9-B59C-B55DA24CC89F}" srcOrd="0" destOrd="0" presId="urn:microsoft.com/office/officeart/2005/8/layout/hProcess9"/>
    <dgm:cxn modelId="{D4DE89E2-80BD-46B2-8A03-F2AC0156210F}" type="presParOf" srcId="{28DBD97C-D670-4C75-BFAE-DDE6A2D20313}" destId="{2A338DE3-D829-4CE4-8B29-FE015BF1F779}" srcOrd="0" destOrd="0" presId="urn:microsoft.com/office/officeart/2005/8/layout/hProcess9"/>
    <dgm:cxn modelId="{DDEAAB0F-0962-4A5A-B0E8-457674FABF4E}" type="presParOf" srcId="{28DBD97C-D670-4C75-BFAE-DDE6A2D20313}" destId="{5EC73684-B237-4858-9811-9DE91A9B8426}" srcOrd="1" destOrd="0" presId="urn:microsoft.com/office/officeart/2005/8/layout/hProcess9"/>
    <dgm:cxn modelId="{1C469C02-B414-4F7A-B901-4926B97D0B56}" type="presParOf" srcId="{5EC73684-B237-4858-9811-9DE91A9B8426}" destId="{A401FE18-FED4-4BC9-B59C-B55DA24CC89F}" srcOrd="0" destOrd="0" presId="urn:microsoft.com/office/officeart/2005/8/layout/hProcess9"/>
    <dgm:cxn modelId="{159BD0F4-CE47-4DF1-84DA-603ABF5880AD}" type="presParOf" srcId="{5EC73684-B237-4858-9811-9DE91A9B8426}" destId="{F133ACC7-4050-4BC3-8F93-828831B26FE8}" srcOrd="1" destOrd="0" presId="urn:microsoft.com/office/officeart/2005/8/layout/hProcess9"/>
    <dgm:cxn modelId="{263AED2D-BF35-4AF6-8A54-57467ABED7D9}" type="presParOf" srcId="{5EC73684-B237-4858-9811-9DE91A9B8426}" destId="{ECD82E47-E458-4C8B-8580-CE109E1867AE}" srcOrd="2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338DE3-D829-4CE4-8B29-FE015BF1F779}">
      <dsp:nvSpPr>
        <dsp:cNvPr id="0" name=""/>
        <dsp:cNvSpPr/>
      </dsp:nvSpPr>
      <dsp:spPr>
        <a:xfrm>
          <a:off x="457199" y="0"/>
          <a:ext cx="5181600" cy="4064000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01FE18-FED4-4BC9-B59C-B55DA24CC89F}">
      <dsp:nvSpPr>
        <dsp:cNvPr id="0" name=""/>
        <dsp:cNvSpPr/>
      </dsp:nvSpPr>
      <dsp:spPr>
        <a:xfrm>
          <a:off x="74" y="1219199"/>
          <a:ext cx="2973585" cy="162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kern="1200" dirty="0">
              <a:latin typeface="Akrobat ExtraBold" panose="00000900000000000000" pitchFamily="50" charset="-52"/>
            </a:rPr>
            <a:t>Проектирование</a:t>
          </a:r>
        </a:p>
      </dsp:txBody>
      <dsp:txXfrm>
        <a:off x="79429" y="1298554"/>
        <a:ext cx="2814875" cy="1466890"/>
      </dsp:txXfrm>
    </dsp:sp>
    <dsp:sp modelId="{ECD82E47-E458-4C8B-8580-CE109E1867AE}">
      <dsp:nvSpPr>
        <dsp:cNvPr id="0" name=""/>
        <dsp:cNvSpPr/>
      </dsp:nvSpPr>
      <dsp:spPr>
        <a:xfrm>
          <a:off x="3122339" y="1219199"/>
          <a:ext cx="2973585" cy="162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kern="1200" dirty="0">
              <a:latin typeface="Akrobat ExtraBold" panose="00000900000000000000" pitchFamily="50" charset="-52"/>
            </a:rPr>
            <a:t>Кодирование</a:t>
          </a:r>
        </a:p>
      </dsp:txBody>
      <dsp:txXfrm>
        <a:off x="3201694" y="1298554"/>
        <a:ext cx="2814875" cy="14668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EA5C17-42C0-404B-8386-D5B71A526CDE}" type="datetimeFigureOut">
              <a:rPr lang="ru-RU" smtClean="0"/>
              <a:t>16.01.2025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A4847E-0A41-6F40-8620-D606F0C66C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6670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Для </a:t>
            </a:r>
            <a:r>
              <a:rPr lang="en-US" dirty="0"/>
              <a:t>Java</a:t>
            </a:r>
            <a:r>
              <a:rPr lang="ru-RU" dirty="0"/>
              <a:t> больше подходит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A4847E-0A41-6F40-8620-D606F0C66C55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67170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860CA-B981-4C41-95A7-F0B3919F25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8E7961-57E4-4C44-B901-D8129DB690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1E95F0-51C5-114E-9308-AAA66EDA7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2752B-E22C-3846-9CAE-5A643FAFFDE2}" type="datetimeFigureOut">
              <a:rPr lang="ru-RU" smtClean="0"/>
              <a:t>16.01.2025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36A7D0-F17F-5948-9C4B-2F70E6DA5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6884DC-DFCA-B74F-B14B-2D310FC7D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23BE-520A-6449-9B0F-6AF644EE1F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6790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62672-7FBA-FB4A-A1BB-90E1BAFD1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D904F8-2165-3C45-A2D2-15BF5B3C4B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D8EDF-058A-A84C-8DCD-A925F4E98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2752B-E22C-3846-9CAE-5A643FAFFDE2}" type="datetimeFigureOut">
              <a:rPr lang="ru-RU" smtClean="0"/>
              <a:t>16.01.2025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F416C4-ED41-434F-8724-4EFC6D0BE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252805-4CCD-7640-B7C4-B29749828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23BE-520A-6449-9B0F-6AF644EE1F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875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BB8DC-0EED-A546-8465-297AADBE6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43B536-FF21-6E46-8E9E-F953E979EC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FF977-CD85-394A-A91A-422E68BA8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2752B-E22C-3846-9CAE-5A643FAFFDE2}" type="datetimeFigureOut">
              <a:rPr lang="ru-RU" smtClean="0"/>
              <a:t>16.01.2025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2E0F0C-5CED-6145-83D1-E481CEEA9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E88B3D-9C07-7F43-BC47-01FA5AC62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23BE-520A-6449-9B0F-6AF644EE1F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1423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8368B-A04B-7F47-974D-47567952B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ED9A7-2973-2047-B0AD-4DFB86E34D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D5D352-7802-2B42-BFC7-EC1FECC243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9B6C4E-F574-FC4D-AB35-B94927629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2752B-E22C-3846-9CAE-5A643FAFFDE2}" type="datetimeFigureOut">
              <a:rPr lang="ru-RU" smtClean="0"/>
              <a:t>16.01.2025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CA1D8A-213E-BB4D-AF33-7FC53818E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7C6431-7444-DA42-8328-767A1E519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23BE-520A-6449-9B0F-6AF644EE1F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9759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7018D-F264-6B4F-980B-7A3C6D85A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B3BFF1-F3E6-6241-B1D8-26FB2F8B49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3AF55F-7FD4-CA49-A381-2CDB879F4E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EF2A4A-9A47-4C4C-A731-E332B1EB64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3E250C-13D8-0849-9814-FC78C42DEB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9EEDFA-BB95-A94F-A311-5FFD66985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2752B-E22C-3846-9CAE-5A643FAFFDE2}" type="datetimeFigureOut">
              <a:rPr lang="ru-RU" smtClean="0"/>
              <a:t>16.01.2025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547523-0B06-C848-A7D5-7C8479041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107B5E-AF62-194F-92EF-8E1861A4F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23BE-520A-6449-9B0F-6AF644EE1F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6651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50759-2A3A-EE48-B571-D56FF2E31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9DD26B-6BC4-D141-914F-5F3175194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2752B-E22C-3846-9CAE-5A643FAFFDE2}" type="datetimeFigureOut">
              <a:rPr lang="ru-RU" smtClean="0"/>
              <a:t>16.01.2025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91A938-348C-594F-877A-12C6D1CC1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0BB33D-F6BC-F941-96C9-2F4FD6A03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23BE-520A-6449-9B0F-6AF644EE1F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9193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757445-744F-EC47-84EB-2993AD253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2752B-E22C-3846-9CAE-5A643FAFFDE2}" type="datetimeFigureOut">
              <a:rPr lang="ru-RU" smtClean="0"/>
              <a:t>16.01.2025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65E222-BF62-D146-B136-EEEAD5E25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2FC084-8E8F-E24F-A233-32A3ADAED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23BE-520A-6449-9B0F-6AF644EE1F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7761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0A407-8B28-0648-97A9-B739BE2D5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4F75B-3B6E-6A47-95A0-4B772E5A4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F58D84-F01B-FF45-BB04-2A60F0986B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D19D0E-6881-8F49-9715-48595A8B8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2752B-E22C-3846-9CAE-5A643FAFFDE2}" type="datetimeFigureOut">
              <a:rPr lang="ru-RU" smtClean="0"/>
              <a:t>16.01.2025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13535F-EA74-604E-96F2-22D109866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1C60A3-CC70-DE4C-9FEE-B2955290D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23BE-520A-6449-9B0F-6AF644EE1F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2351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A140E-850D-C643-BC4D-A28571FB6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557EB5-A61A-E149-A796-C2E799BB42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F66EB0-D9B4-A740-854B-2D244059FB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D8BC41-20A4-BC4E-94F1-F902E184B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2752B-E22C-3846-9CAE-5A643FAFFDE2}" type="datetimeFigureOut">
              <a:rPr lang="ru-RU" smtClean="0"/>
              <a:t>16.01.2025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679E17-58C2-D845-860E-E0C180519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0083B4-2211-344C-8221-8FDEC21F8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23BE-520A-6449-9B0F-6AF644EE1F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118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C7C92-7FDA-6146-8601-5149A0302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E3DA4B-1416-2D4A-9803-75E9095B3B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68AB9B-22F0-704E-B1E7-FB00DD116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2752B-E22C-3846-9CAE-5A643FAFFDE2}" type="datetimeFigureOut">
              <a:rPr lang="ru-RU" smtClean="0"/>
              <a:t>16.01.2025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F87C5-57BE-DD4C-9F4D-9E97DDEA8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77770E-E0CF-B247-B2DE-29C46D297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23BE-520A-6449-9B0F-6AF644EE1F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4975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7D51B0-2C40-C441-BB99-76A18C77C2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92DFB2-7544-484B-9638-69538A1F8A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5B15FB-DDA0-BC4D-8D32-4EF10AABA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2752B-E22C-3846-9CAE-5A643FAFFDE2}" type="datetimeFigureOut">
              <a:rPr lang="ru-RU" smtClean="0"/>
              <a:t>16.01.2025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10065B-6D38-544F-98CE-DB7E423F3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C92482-AD33-3A40-AFE2-91D415462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23BE-520A-6449-9B0F-6AF644EE1F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3490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/>
          <p:cNvSpPr>
            <a:spLocks noGrp="1"/>
          </p:cNvSpPr>
          <p:nvPr>
            <p:ph type="subTitle" idx="13"/>
          </p:nvPr>
        </p:nvSpPr>
        <p:spPr>
          <a:xfrm>
            <a:off x="265723" y="1414710"/>
            <a:ext cx="7668667" cy="37599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200" b="1" i="0">
                <a:solidFill>
                  <a:srgbClr val="051647"/>
                </a:solidFill>
                <a:latin typeface="Futura PT" charset="0"/>
                <a:ea typeface="Futura PT" charset="0"/>
                <a:cs typeface="Futura PT" charset="0"/>
              </a:defRPr>
            </a:lvl1pPr>
            <a:lvl2pPr marL="342886" indent="0" algn="ctr">
              <a:buNone/>
              <a:defRPr sz="1500"/>
            </a:lvl2pPr>
            <a:lvl3pPr marL="685772" indent="0" algn="ctr">
              <a:buNone/>
              <a:defRPr sz="1350"/>
            </a:lvl3pPr>
            <a:lvl4pPr marL="1028657" indent="0" algn="ctr">
              <a:buNone/>
              <a:defRPr sz="1200"/>
            </a:lvl4pPr>
            <a:lvl5pPr marL="1371543" indent="0" algn="ctr">
              <a:buNone/>
              <a:defRPr sz="1200"/>
            </a:lvl5pPr>
            <a:lvl6pPr marL="1714428" indent="0" algn="ctr">
              <a:buNone/>
              <a:defRPr sz="1200"/>
            </a:lvl6pPr>
            <a:lvl7pPr marL="2057314" indent="0" algn="ctr">
              <a:buNone/>
              <a:defRPr sz="1200"/>
            </a:lvl7pPr>
            <a:lvl8pPr marL="2400199" indent="0" algn="ctr">
              <a:buNone/>
              <a:defRPr sz="1200"/>
            </a:lvl8pPr>
            <a:lvl9pPr marL="2743085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265724" y="1921070"/>
            <a:ext cx="7668668" cy="4186146"/>
          </a:xfrm>
          <a:prstGeom prst="rect">
            <a:avLst/>
          </a:prstGeom>
        </p:spPr>
        <p:txBody>
          <a:bodyPr/>
          <a:lstStyle>
            <a:lvl1pPr marL="228591" indent="-228591">
              <a:buFontTx/>
              <a:buBlip>
                <a:blip r:embed="rId2"/>
              </a:buBlip>
              <a:defRPr/>
            </a:lvl1pPr>
            <a:lvl2pPr marL="685772" indent="-228591">
              <a:buFontTx/>
              <a:buBlip>
                <a:blip r:embed="rId2"/>
              </a:buBlip>
              <a:defRPr/>
            </a:lvl2pPr>
            <a:lvl3pPr marL="1142952" indent="-228591">
              <a:buFontTx/>
              <a:buBlip>
                <a:blip r:embed="rId2"/>
              </a:buBlip>
              <a:defRPr/>
            </a:lvl3pPr>
            <a:lvl4pPr marL="1600133" indent="-228591">
              <a:buFontTx/>
              <a:buBlip>
                <a:blip r:embed="rId2"/>
              </a:buBlip>
              <a:defRPr/>
            </a:lvl4pPr>
            <a:lvl5pPr marL="2057314" indent="-228591">
              <a:buFontTx/>
              <a:buBlip>
                <a:blip r:embed="rId2"/>
              </a:buBlip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-1141" y="6400797"/>
            <a:ext cx="562708" cy="4644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0" b="1" i="0">
                <a:solidFill>
                  <a:schemeClr val="bg1"/>
                </a:solidFill>
                <a:latin typeface="Futura PT" charset="0"/>
                <a:ea typeface="Futura PT" charset="0"/>
                <a:cs typeface="Futura PT" charset="0"/>
              </a:defRPr>
            </a:lvl1pPr>
          </a:lstStyle>
          <a:p>
            <a:fld id="{A9165384-43C4-1941-868E-D66A291601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5253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BBAB6B-9BA6-944E-971B-5EA05846E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C84ABD-EE5C-3B41-A4BA-00FB0F22C4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89A5C1-E32F-0540-AD20-3FA873CBE6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02752B-E22C-3846-9CAE-5A643FAFFDE2}" type="datetimeFigureOut">
              <a:rPr lang="ru-RU" smtClean="0"/>
              <a:t>16.01.2025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B58D63-FE67-6F41-9F4E-217A847E06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B6635D-5FDF-4440-9D35-A23DC9393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E323BE-520A-6449-9B0F-6AF644EE1F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0775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tif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71488-4E63-7040-8BAA-9071DE0FD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4FD74E-1111-884A-8CFF-6E080E4272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UML</a:t>
            </a:r>
          </a:p>
          <a:p>
            <a:pPr lvl="1"/>
            <a:r>
              <a:rPr lang="ru-RU" dirty="0"/>
              <a:t>Введение</a:t>
            </a:r>
          </a:p>
          <a:p>
            <a:pPr lvl="1"/>
            <a:r>
              <a:rPr lang="en-US" dirty="0"/>
              <a:t>Use Case Diagram</a:t>
            </a:r>
          </a:p>
          <a:p>
            <a:pPr lvl="1"/>
            <a:r>
              <a:rPr lang="en-US" dirty="0"/>
              <a:t>Sequence Diagram</a:t>
            </a:r>
          </a:p>
          <a:p>
            <a:r>
              <a:rPr lang="ru-RU" dirty="0"/>
              <a:t>Самостоятельная работа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84505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>
                <a:latin typeface="Akrobat ExtraBold" panose="00000900000000000000" pitchFamily="50" charset="-52"/>
              </a:rPr>
              <a:t>Принцип создания проектов</a:t>
            </a:r>
          </a:p>
        </p:txBody>
      </p:sp>
      <p:graphicFrame>
        <p:nvGraphicFramePr>
          <p:cNvPr id="4" name="Схема 3"/>
          <p:cNvGraphicFramePr/>
          <p:nvPr/>
        </p:nvGraphicFramePr>
        <p:xfrm>
          <a:off x="3048000" y="13970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A072D8B1-3664-4941-A5E6-AD32FE487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UML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4104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69F35-5DDB-7744-A8C0-D60320BB3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Проектирование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3CAC6-CDCC-664F-93B5-FE2D933232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В ходе проектирования архитектором создается проектная документация, включающая:</a:t>
            </a:r>
            <a:endParaRPr lang="en-US" dirty="0"/>
          </a:p>
          <a:p>
            <a:r>
              <a:rPr lang="ru-RU" dirty="0"/>
              <a:t>текстовые описания</a:t>
            </a:r>
          </a:p>
          <a:p>
            <a:r>
              <a:rPr lang="ru-RU" dirty="0"/>
              <a:t>диаграммы</a:t>
            </a:r>
          </a:p>
          <a:p>
            <a:r>
              <a:rPr lang="ru-RU" dirty="0"/>
              <a:t>модели будущей программы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/>
              <a:t>Для этого используется графический язык для визуализации, описания параметров, конструирования и документирования различных систем </a:t>
            </a:r>
            <a:r>
              <a:rPr lang="en-US" dirty="0"/>
              <a:t>– </a:t>
            </a:r>
            <a:r>
              <a:rPr lang="en-US" b="1" dirty="0"/>
              <a:t>UML</a:t>
            </a:r>
            <a:r>
              <a:rPr lang="en-US" dirty="0"/>
              <a:t> 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01180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26C03-A0E4-614B-B8DD-0B75DF538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krobat ExtraBold" panose="00000900000000000000" pitchFamily="50" charset="-52"/>
              </a:rPr>
              <a:t>UML(Unified Modeling Language)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1F207-886C-CC4A-9867-18FD0145D7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lnSpc>
                <a:spcPct val="100000"/>
              </a:lnSpc>
            </a:pPr>
            <a:r>
              <a:rPr lang="ru-RU" dirty="0">
                <a:latin typeface="Akrobat ExtraBold" panose="00000900000000000000" pitchFamily="50" charset="-52"/>
              </a:rPr>
              <a:t>Цель </a:t>
            </a:r>
            <a:r>
              <a:rPr lang="en-US" dirty="0">
                <a:latin typeface="Akrobat ExtraBold" panose="00000900000000000000" pitchFamily="50" charset="-52"/>
              </a:rPr>
              <a:t>UML</a:t>
            </a:r>
            <a:r>
              <a:rPr lang="ru-RU" dirty="0">
                <a:latin typeface="Akrobat ExtraBold" panose="00000900000000000000" pitchFamily="50" charset="-52"/>
              </a:rPr>
              <a:t> – проектирование, документирование, визуальное описание основных компонентов проекта</a:t>
            </a:r>
          </a:p>
          <a:p>
            <a:pPr algn="just">
              <a:lnSpc>
                <a:spcPct val="100000"/>
              </a:lnSpc>
            </a:pPr>
            <a:r>
              <a:rPr lang="ru-RU" dirty="0">
                <a:latin typeface="Akrobat ExtraBold" panose="00000900000000000000" pitchFamily="50" charset="-52"/>
              </a:rPr>
              <a:t>Диаграмма – визуальное описание процесса, классов, взаимодействия</a:t>
            </a:r>
          </a:p>
          <a:p>
            <a:pPr algn="just">
              <a:lnSpc>
                <a:spcPct val="100000"/>
              </a:lnSpc>
            </a:pPr>
            <a:r>
              <a:rPr lang="ru-RU" dirty="0">
                <a:latin typeface="Akrobat ExtraBold" panose="00000900000000000000" pitchFamily="50" charset="-52"/>
              </a:rPr>
              <a:t>На каждый процесс – своя диаграмма</a:t>
            </a:r>
          </a:p>
          <a:p>
            <a:pPr algn="just">
              <a:lnSpc>
                <a:spcPct val="100000"/>
              </a:lnSpc>
            </a:pPr>
            <a:r>
              <a:rPr lang="ru-RU" dirty="0">
                <a:latin typeface="Akrobat ExtraBold" panose="00000900000000000000" pitchFamily="50" charset="-52"/>
              </a:rPr>
              <a:t>Хранение важной информации в эл. виде</a:t>
            </a:r>
          </a:p>
          <a:p>
            <a:pPr algn="just">
              <a:lnSpc>
                <a:spcPct val="100000"/>
              </a:lnSpc>
            </a:pPr>
            <a:r>
              <a:rPr lang="ru-RU" dirty="0">
                <a:latin typeface="Akrobat ExtraBold" panose="00000900000000000000" pitchFamily="50" charset="-52"/>
              </a:rPr>
              <a:t>Не язык программирования (но можно генерировать код)</a:t>
            </a:r>
          </a:p>
          <a:p>
            <a:pPr algn="just">
              <a:lnSpc>
                <a:spcPct val="100000"/>
              </a:lnSpc>
            </a:pPr>
            <a:r>
              <a:rPr lang="ru-RU" dirty="0">
                <a:latin typeface="Akrobat ExtraBold" panose="00000900000000000000" pitchFamily="50" charset="-52"/>
              </a:rPr>
              <a:t>Дополняет ТЗ</a:t>
            </a:r>
          </a:p>
          <a:p>
            <a:pPr algn="just">
              <a:lnSpc>
                <a:spcPct val="100000"/>
              </a:lnSpc>
            </a:pPr>
            <a:r>
              <a:rPr lang="ru-RU" dirty="0">
                <a:latin typeface="Akrobat ExtraBold" panose="00000900000000000000" pitchFamily="50" charset="-52"/>
              </a:rPr>
              <a:t>Видение процесса «сверху»</a:t>
            </a:r>
          </a:p>
        </p:txBody>
      </p:sp>
    </p:spTree>
    <p:extLst>
      <p:ext uri="{BB962C8B-B14F-4D97-AF65-F5344CB8AC3E}">
        <p14:creationId xmlns:p14="http://schemas.microsoft.com/office/powerpoint/2010/main" val="708166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13297-7551-124F-80F3-1EB4D4C10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krobat ExtraBold" panose="00000900000000000000" pitchFamily="50" charset="-52"/>
              </a:rPr>
              <a:t>Кто может использовать </a:t>
            </a:r>
            <a:r>
              <a:rPr lang="en-US" dirty="0">
                <a:latin typeface="Akrobat ExtraBold" panose="00000900000000000000" pitchFamily="50" charset="-52"/>
              </a:rPr>
              <a:t>UML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E1F11-7D5E-A54C-85FE-F3C7C5B7CB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>
                <a:latin typeface="Akrobat ExtraBold" panose="00000900000000000000" pitchFamily="50" charset="-52"/>
              </a:rPr>
              <a:t>Заказчик </a:t>
            </a:r>
            <a:r>
              <a:rPr lang="ru-RU" dirty="0">
                <a:latin typeface="Akrobat ExtraBold" panose="00000900000000000000" pitchFamily="50" charset="-52"/>
              </a:rPr>
              <a:t>– общие задачи и цели проекта</a:t>
            </a:r>
          </a:p>
          <a:p>
            <a:pPr marL="0" indent="0">
              <a:buNone/>
            </a:pPr>
            <a:r>
              <a:rPr lang="ru-RU" b="1" dirty="0">
                <a:latin typeface="Akrobat ExtraBold" panose="00000900000000000000" pitchFamily="50" charset="-52"/>
              </a:rPr>
              <a:t>Аналитик </a:t>
            </a:r>
            <a:r>
              <a:rPr lang="ru-RU" dirty="0">
                <a:latin typeface="Akrobat ExtraBold" panose="00000900000000000000" pitchFamily="50" charset="-52"/>
              </a:rPr>
              <a:t>– подходы, правильность работы системы и её частей, «слои» приложения</a:t>
            </a:r>
          </a:p>
          <a:p>
            <a:pPr marL="0" indent="0">
              <a:buNone/>
            </a:pPr>
            <a:r>
              <a:rPr lang="ru-RU" b="1" dirty="0">
                <a:latin typeface="Akrobat ExtraBold" panose="00000900000000000000" pitchFamily="50" charset="-52"/>
              </a:rPr>
              <a:t>Разработчик/Архитектор</a:t>
            </a:r>
            <a:r>
              <a:rPr lang="ru-RU" dirty="0">
                <a:latin typeface="Akrobat ExtraBold" panose="00000900000000000000" pitchFamily="50" charset="-52"/>
              </a:rPr>
              <a:t> – дизайн кода, архитектура классов, объектов и взаимодействий</a:t>
            </a:r>
          </a:p>
          <a:p>
            <a:pPr marL="0" indent="0">
              <a:buNone/>
            </a:pPr>
            <a:r>
              <a:rPr lang="ru-RU" b="1" dirty="0" err="1">
                <a:latin typeface="Akrobat ExtraBold" panose="00000900000000000000" pitchFamily="50" charset="-52"/>
              </a:rPr>
              <a:t>Тестировщик</a:t>
            </a:r>
            <a:r>
              <a:rPr lang="ru-RU" dirty="0">
                <a:latin typeface="Akrobat ExtraBold" panose="00000900000000000000" pitchFamily="50" charset="-52"/>
              </a:rPr>
              <a:t> – проверка функционала на всех уровнях</a:t>
            </a:r>
          </a:p>
          <a:p>
            <a:pPr marL="0" indent="0">
              <a:buNone/>
            </a:pPr>
            <a:r>
              <a:rPr lang="ru-RU" b="1" dirty="0">
                <a:latin typeface="Akrobat ExtraBold" panose="00000900000000000000" pitchFamily="50" charset="-52"/>
              </a:rPr>
              <a:t>Менеджер проекта </a:t>
            </a:r>
            <a:r>
              <a:rPr lang="ru-RU" dirty="0">
                <a:latin typeface="Akrobat ExtraBold" panose="00000900000000000000" pitchFamily="50" charset="-52"/>
              </a:rPr>
              <a:t>– общая картина по проекту</a:t>
            </a:r>
          </a:p>
        </p:txBody>
      </p:sp>
    </p:spTree>
    <p:extLst>
      <p:ext uri="{BB962C8B-B14F-4D97-AF65-F5344CB8AC3E}">
        <p14:creationId xmlns:p14="http://schemas.microsoft.com/office/powerpoint/2010/main" val="3953059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269A4-A0A0-3942-A6B8-25EDCB87C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krobat ExtraBold" panose="00000900000000000000" pitchFamily="50" charset="-52"/>
              </a:rPr>
              <a:t>Плюсы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ABC33-7E10-3345-AE14-878909DC6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b="1" dirty="0">
                <a:latin typeface="Akrobat ExtraBold" panose="00000900000000000000" pitchFamily="50" charset="-52"/>
              </a:rPr>
              <a:t>Универсальность – единая технология</a:t>
            </a:r>
          </a:p>
          <a:p>
            <a:pPr algn="just"/>
            <a:r>
              <a:rPr lang="ru-RU" dirty="0">
                <a:latin typeface="Akrobat ExtraBold" panose="00000900000000000000" pitchFamily="50" charset="-52"/>
              </a:rPr>
              <a:t>Автоматическая генерация кода на основе </a:t>
            </a:r>
            <a:r>
              <a:rPr lang="en-US" dirty="0">
                <a:latin typeface="Akrobat ExtraBold" panose="00000900000000000000" pitchFamily="50" charset="-52"/>
              </a:rPr>
              <a:t>UML-</a:t>
            </a:r>
            <a:r>
              <a:rPr lang="ru-RU" dirty="0">
                <a:latin typeface="Akrobat ExtraBold" panose="00000900000000000000" pitchFamily="50" charset="-52"/>
              </a:rPr>
              <a:t>диаграмм</a:t>
            </a:r>
          </a:p>
          <a:p>
            <a:pPr algn="just"/>
            <a:r>
              <a:rPr lang="ru-RU" dirty="0">
                <a:latin typeface="Akrobat ExtraBold" panose="00000900000000000000" pitchFamily="50" charset="-52"/>
              </a:rPr>
              <a:t>Широкое применение – ИТ, бизнес и др.</a:t>
            </a:r>
          </a:p>
          <a:p>
            <a:pPr algn="just"/>
            <a:r>
              <a:rPr lang="ru-RU" dirty="0">
                <a:latin typeface="Akrobat ExtraBold" panose="00000900000000000000" pitchFamily="50" charset="-52"/>
              </a:rPr>
              <a:t>Поддержка ООП</a:t>
            </a:r>
          </a:p>
          <a:p>
            <a:pPr algn="just"/>
            <a:r>
              <a:rPr lang="ru-RU" b="1" dirty="0">
                <a:latin typeface="Akrobat ExtraBold" panose="00000900000000000000" pitchFamily="50" charset="-52"/>
              </a:rPr>
              <a:t>Большое количество типов диаграмм</a:t>
            </a:r>
          </a:p>
          <a:p>
            <a:pPr algn="just"/>
            <a:r>
              <a:rPr lang="ru-RU" dirty="0">
                <a:latin typeface="Akrobat ExtraBold" panose="00000900000000000000" pitchFamily="50" charset="-52"/>
              </a:rPr>
              <a:t>Удобные инструменты, плагины для многих </a:t>
            </a:r>
            <a:r>
              <a:rPr lang="en-US" dirty="0">
                <a:latin typeface="Akrobat ExtraBold" panose="00000900000000000000" pitchFamily="50" charset="-52"/>
              </a:rPr>
              <a:t>IDE</a:t>
            </a:r>
          </a:p>
          <a:p>
            <a:pPr algn="just"/>
            <a:r>
              <a:rPr lang="ru-RU" b="1" dirty="0">
                <a:latin typeface="Akrobat ExtraBold" panose="00000900000000000000" pitchFamily="50" charset="-52"/>
              </a:rPr>
              <a:t>Разбор основных моментов проекта без изучения кода</a:t>
            </a:r>
          </a:p>
          <a:p>
            <a:pPr algn="just"/>
            <a:r>
              <a:rPr lang="ru-RU" dirty="0">
                <a:latin typeface="Akrobat ExtraBold" panose="00000900000000000000" pitchFamily="50" charset="-52"/>
              </a:rPr>
              <a:t>Миграция диаграмм инструментальными средствами</a:t>
            </a:r>
          </a:p>
        </p:txBody>
      </p:sp>
    </p:spTree>
    <p:extLst>
      <p:ext uri="{BB962C8B-B14F-4D97-AF65-F5344CB8AC3E}">
        <p14:creationId xmlns:p14="http://schemas.microsoft.com/office/powerpoint/2010/main" val="4508387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3D398-EB83-ED49-A3B3-890238DD5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>
                <a:latin typeface="Akrobat ExtraBold" panose="00000900000000000000" pitchFamily="50" charset="-52"/>
              </a:rPr>
              <a:t>Минусы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7766E-D97D-984A-A3EB-777D146FE0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latin typeface="Akrobat ExtraBold" panose="00000900000000000000" pitchFamily="50" charset="-52"/>
              </a:rPr>
              <a:t>Изучение </a:t>
            </a:r>
            <a:r>
              <a:rPr lang="en-US" dirty="0">
                <a:latin typeface="Akrobat ExtraBold" panose="00000900000000000000" pitchFamily="50" charset="-52"/>
              </a:rPr>
              <a:t>UML</a:t>
            </a:r>
          </a:p>
          <a:p>
            <a:r>
              <a:rPr lang="ru-RU" dirty="0">
                <a:latin typeface="Akrobat ExtraBold" panose="00000900000000000000" pitchFamily="50" charset="-52"/>
              </a:rPr>
              <a:t>Для начинающих – путаница в количестве диаграмм</a:t>
            </a:r>
          </a:p>
          <a:p>
            <a:r>
              <a:rPr lang="ru-RU" dirty="0">
                <a:latin typeface="Akrobat ExtraBold" panose="00000900000000000000" pitchFamily="50" charset="-52"/>
              </a:rPr>
              <a:t>Знание ООП</a:t>
            </a:r>
          </a:p>
          <a:p>
            <a:r>
              <a:rPr lang="ru-RU" dirty="0">
                <a:latin typeface="Akrobat ExtraBold" panose="00000900000000000000" pitchFamily="50" charset="-52"/>
              </a:rPr>
              <a:t>Детализация/поверхностное описание</a:t>
            </a:r>
          </a:p>
          <a:p>
            <a:r>
              <a:rPr lang="ru-RU" b="1" dirty="0">
                <a:latin typeface="Akrobat ExtraBold" panose="00000900000000000000" pitchFamily="50" charset="-52"/>
              </a:rPr>
              <a:t>Учебные материалы сложны и запутаны</a:t>
            </a:r>
          </a:p>
        </p:txBody>
      </p:sp>
    </p:spTree>
    <p:extLst>
      <p:ext uri="{BB962C8B-B14F-4D97-AF65-F5344CB8AC3E}">
        <p14:creationId xmlns:p14="http://schemas.microsoft.com/office/powerpoint/2010/main" val="3765609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FA3DA-F23E-014F-BB21-6E3BAEB6D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krobat ExtraBold" panose="00000900000000000000" pitchFamily="50" charset="-52"/>
              </a:rPr>
              <a:t>Типы диаграмм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0007D9-582C-904E-9104-7ED8A90073FF}"/>
              </a:ext>
            </a:extLst>
          </p:cNvPr>
          <p:cNvSpPr txBox="1"/>
          <p:nvPr/>
        </p:nvSpPr>
        <p:spPr>
          <a:xfrm>
            <a:off x="1809577" y="3298403"/>
            <a:ext cx="369073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krobat ExtraBold" panose="00000900000000000000" pitchFamily="50" charset="-52"/>
              </a:rPr>
              <a:t>Structure diagrams</a:t>
            </a:r>
          </a:p>
          <a:p>
            <a:endParaRPr lang="en-US" dirty="0">
              <a:latin typeface="Akrobat Bold" panose="00000800000000000000" pitchFamily="50" charset="-5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>
                <a:latin typeface="Akrobat Bold" panose="00000800000000000000" pitchFamily="50" charset="-52"/>
              </a:rPr>
              <a:t>Общая картина взаимодействия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ru-RU" dirty="0">
              <a:latin typeface="Akrobat Bold" panose="00000800000000000000" pitchFamily="50" charset="-5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>
                <a:latin typeface="Akrobat Bold" panose="00000800000000000000" pitchFamily="50" charset="-52"/>
              </a:rPr>
              <a:t>Как устроено, кто с кем связан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B00529-719A-7648-9DAC-85BA93C8D493}"/>
              </a:ext>
            </a:extLst>
          </p:cNvPr>
          <p:cNvSpPr txBox="1"/>
          <p:nvPr/>
        </p:nvSpPr>
        <p:spPr>
          <a:xfrm>
            <a:off x="6765235" y="3298403"/>
            <a:ext cx="369073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krobat ExtraBold" panose="00000900000000000000" pitchFamily="50" charset="-52"/>
              </a:rPr>
              <a:t>Behavior diagrams</a:t>
            </a:r>
          </a:p>
          <a:p>
            <a:endParaRPr lang="en-US" dirty="0">
              <a:latin typeface="Akrobat Bold" panose="00000800000000000000" pitchFamily="50" charset="-5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>
                <a:latin typeface="Akrobat Bold" panose="00000800000000000000" pitchFamily="50" charset="-52"/>
              </a:rPr>
              <a:t>Динамическое поведение, изменение состояния во времени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ru-RU" dirty="0">
              <a:latin typeface="Akrobat Bold" panose="00000800000000000000" pitchFamily="50" charset="-5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>
                <a:latin typeface="Akrobat Bold" panose="00000800000000000000" pitchFamily="50" charset="-52"/>
              </a:rPr>
              <a:t>Как работает, последовательность процессов</a:t>
            </a:r>
          </a:p>
        </p:txBody>
      </p:sp>
      <p:sp>
        <p:nvSpPr>
          <p:cNvPr id="6" name="Блок-схема: альтернативный процесс 6">
            <a:extLst>
              <a:ext uri="{FF2B5EF4-FFF2-40B4-BE49-F238E27FC236}">
                <a16:creationId xmlns:a16="http://schemas.microsoft.com/office/drawing/2014/main" id="{96C8AD5D-9F09-394F-BD73-209FA57B14C4}"/>
              </a:ext>
            </a:extLst>
          </p:cNvPr>
          <p:cNvSpPr/>
          <p:nvPr/>
        </p:nvSpPr>
        <p:spPr>
          <a:xfrm>
            <a:off x="1360968" y="1830525"/>
            <a:ext cx="4426689" cy="119932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>
                <a:solidFill>
                  <a:srgbClr val="FFFFFF"/>
                </a:solidFill>
                <a:latin typeface="Akrobat ExtraBold" panose="00000900000000000000" pitchFamily="50" charset="-52"/>
              </a:rPr>
              <a:t>Структурные</a:t>
            </a:r>
          </a:p>
        </p:txBody>
      </p:sp>
      <p:sp>
        <p:nvSpPr>
          <p:cNvPr id="7" name="Блок-схема: альтернативный процесс 7">
            <a:extLst>
              <a:ext uri="{FF2B5EF4-FFF2-40B4-BE49-F238E27FC236}">
                <a16:creationId xmlns:a16="http://schemas.microsoft.com/office/drawing/2014/main" id="{032F4B4E-ED9B-604D-A81A-37035035D833}"/>
              </a:ext>
            </a:extLst>
          </p:cNvPr>
          <p:cNvSpPr/>
          <p:nvPr/>
        </p:nvSpPr>
        <p:spPr>
          <a:xfrm>
            <a:off x="6397256" y="1830525"/>
            <a:ext cx="4426688" cy="119932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>
                <a:solidFill>
                  <a:srgbClr val="FFFFFF"/>
                </a:solidFill>
                <a:latin typeface="Akrobat ExtraBold" panose="00000900000000000000" pitchFamily="50" charset="-52"/>
              </a:rPr>
              <a:t>Поведенческие</a:t>
            </a:r>
          </a:p>
        </p:txBody>
      </p:sp>
    </p:spTree>
    <p:extLst>
      <p:ext uri="{BB962C8B-B14F-4D97-AF65-F5344CB8AC3E}">
        <p14:creationId xmlns:p14="http://schemas.microsoft.com/office/powerpoint/2010/main" val="39750232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AE61B-257C-9346-AB3A-EB643FE78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ru-RU" b="1" dirty="0">
                <a:latin typeface="Akrobat ExtraBold" panose="00000900000000000000" pitchFamily="50" charset="-52"/>
              </a:rPr>
              <a:t>Типы диаграмм</a:t>
            </a:r>
            <a:endParaRPr lang="ru-RU" dirty="0"/>
          </a:p>
        </p:txBody>
      </p:sp>
      <p:pic>
        <p:nvPicPr>
          <p:cNvPr id="4" name="Picture 2" descr="ÐÐ°ÑÑÐ¸Ð½ÐºÐ¸ Ð¿Ð¾ Ð·Ð°Ð¿ÑÐ¾ÑÑ ÑÐ¸Ð¿Ñ Ð´Ð¸Ð°Ð³ÑÐ°Ð¼Ð¼ uml 2.5">
            <a:extLst>
              <a:ext uri="{FF2B5EF4-FFF2-40B4-BE49-F238E27FC236}">
                <a16:creationId xmlns:a16="http://schemas.microsoft.com/office/drawing/2014/main" id="{39A8F616-63E7-0444-9693-92FB30F9324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2074" y="258800"/>
            <a:ext cx="6599200" cy="659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51664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717235" y="318053"/>
            <a:ext cx="441297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Akrobat ExtraBold" panose="00000900000000000000" pitchFamily="50" charset="-52"/>
              </a:rPr>
              <a:t>Class diagram</a:t>
            </a:r>
            <a:endParaRPr lang="ru-RU" sz="4400" dirty="0">
              <a:latin typeface="Akrobat ExtraBold" panose="00000900000000000000" pitchFamily="50" charset="-5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71870" y="1587026"/>
            <a:ext cx="388566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sz="2400" dirty="0">
                <a:latin typeface="Akrobat ExtraBold" panose="00000900000000000000" pitchFamily="50" charset="-52"/>
              </a:rPr>
              <a:t>Описание классов, интерфейсов, связей, методов</a:t>
            </a:r>
          </a:p>
          <a:p>
            <a:endParaRPr lang="ru-RU" sz="2400" dirty="0">
              <a:latin typeface="Akrobat ExtraBold" panose="00000900000000000000" pitchFamily="50" charset="-5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sz="2400" dirty="0">
                <a:latin typeface="Akrobat ExtraBold" panose="00000900000000000000" pitchFamily="50" charset="-52"/>
              </a:rPr>
              <a:t>Структура в стиле ООП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ru-RU" sz="2400" dirty="0">
              <a:latin typeface="Akrobat ExtraBold" panose="00000900000000000000" pitchFamily="50" charset="-5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sz="2400" dirty="0">
                <a:latin typeface="Akrobat ExtraBold" panose="00000900000000000000" pitchFamily="50" charset="-52"/>
              </a:rPr>
              <a:t>Позволяет понять работу кода без изучения самого кода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ru-RU" sz="2400" dirty="0">
              <a:latin typeface="Akrobat ExtraBold" panose="00000900000000000000" pitchFamily="50" charset="-5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sz="2400" dirty="0" err="1">
                <a:latin typeface="Akrobat ExtraBold" panose="00000900000000000000" pitchFamily="50" charset="-52"/>
              </a:rPr>
              <a:t>Автогенерация</a:t>
            </a:r>
            <a:r>
              <a:rPr lang="ru-RU" sz="2400" dirty="0">
                <a:latin typeface="Akrobat ExtraBold" panose="00000900000000000000" pitchFamily="50" charset="-52"/>
              </a:rPr>
              <a:t> кода на основе диаграмм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4040" y="1527390"/>
            <a:ext cx="5361804" cy="4545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2368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43091" y="483705"/>
            <a:ext cx="49298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Akrobat ExtraBold" panose="00000900000000000000" pitchFamily="50" charset="-52"/>
              </a:rPr>
              <a:t>Object diagram</a:t>
            </a:r>
            <a:endParaRPr lang="ru-RU" sz="4800" dirty="0">
              <a:latin typeface="Akrobat ExtraBold" panose="00000900000000000000" pitchFamily="50" charset="-5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448648" y="1931120"/>
            <a:ext cx="3432313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sz="2400" dirty="0">
                <a:latin typeface="Akrobat ExtraBold" panose="00000900000000000000" pitchFamily="50" charset="-52"/>
              </a:rPr>
              <a:t>Состояние экземпляров классов с конкретными значениями полей в определенный момент времени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ru-RU" sz="2400" dirty="0">
              <a:latin typeface="Akrobat ExtraBold" panose="00000900000000000000" pitchFamily="50" charset="-5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sz="2400" dirty="0">
                <a:latin typeface="Akrobat ExtraBold" panose="00000900000000000000" pitchFamily="50" charset="-52"/>
              </a:rPr>
              <a:t>Похож на диаграмму классов, но в режиме </a:t>
            </a:r>
            <a:r>
              <a:rPr lang="en-US" sz="2400" dirty="0">
                <a:latin typeface="Akrobat ExtraBold" panose="00000900000000000000" pitchFamily="50" charset="-52"/>
              </a:rPr>
              <a:t>runtime</a:t>
            </a:r>
            <a:r>
              <a:rPr lang="ru-RU" sz="2400" dirty="0">
                <a:latin typeface="Akrobat ExtraBold" panose="00000900000000000000" pitchFamily="50" charset="-52"/>
              </a:rPr>
              <a:t> (во время работы программы)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4950" y="2843539"/>
            <a:ext cx="5437117" cy="2894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7178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65444" y="337932"/>
            <a:ext cx="457862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Akrobat ExtraBold" panose="00000900000000000000" pitchFamily="50" charset="-52"/>
              </a:rPr>
              <a:t>Package diagram</a:t>
            </a:r>
            <a:endParaRPr lang="ru-RU" sz="4400" dirty="0">
              <a:latin typeface="Akrobat ExtraBold" panose="00000900000000000000" pitchFamily="50" charset="-5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55898" y="2057928"/>
            <a:ext cx="308113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ru-RU" sz="2800" dirty="0">
                <a:latin typeface="Akrobat ExtraBold" panose="00000900000000000000" pitchFamily="50" charset="-52"/>
              </a:rPr>
              <a:t>Показывает вложенность и связи между пакетами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endParaRPr lang="ru-RU" sz="2800" dirty="0">
              <a:latin typeface="Akrobat ExtraBold" panose="00000900000000000000" pitchFamily="50" charset="-52"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ru-RU" sz="2800" dirty="0">
                <a:latin typeface="Akrobat ExtraBold" panose="00000900000000000000" pitchFamily="50" charset="-52"/>
              </a:rPr>
              <a:t>Более высокий уровень, чем классы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1404" y="1869636"/>
            <a:ext cx="6008495" cy="3916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7632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30487" y="265044"/>
            <a:ext cx="398890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Akrobat ExtraBold" panose="00000900000000000000" pitchFamily="50" charset="-52"/>
              </a:rPr>
              <a:t>Model diagram </a:t>
            </a:r>
            <a:endParaRPr lang="ru-RU" sz="4400" dirty="0">
              <a:latin typeface="Akrobat ExtraBold" panose="00000900000000000000" pitchFamily="50" charset="-5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99460" y="1688879"/>
            <a:ext cx="325048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sz="2400" dirty="0">
                <a:latin typeface="Akrobat ExtraBold" panose="00000900000000000000" pitchFamily="50" charset="-52"/>
              </a:rPr>
              <a:t>Описание «слоев» проекта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ru-RU" sz="2400" dirty="0">
              <a:latin typeface="Akrobat ExtraBold" panose="00000900000000000000" pitchFamily="50" charset="-5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sz="2400" dirty="0">
                <a:latin typeface="Akrobat ExtraBold" panose="00000900000000000000" pitchFamily="50" charset="-52"/>
              </a:rPr>
              <a:t>Используется для многоуровневых приложений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ru-RU" sz="2400" dirty="0">
              <a:latin typeface="Akrobat ExtraBold" panose="00000900000000000000" pitchFamily="50" charset="-5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sz="2400" dirty="0">
                <a:latin typeface="Akrobat ExtraBold" panose="00000900000000000000" pitchFamily="50" charset="-52"/>
              </a:rPr>
              <a:t>Часто используется в ТЗ для общего описания частей проекта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0905" y="1231679"/>
            <a:ext cx="5612295" cy="5661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2011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11826" y="371060"/>
            <a:ext cx="42738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Akrobat ExtraBold" panose="00000900000000000000" pitchFamily="50" charset="-52"/>
              </a:rPr>
              <a:t>Use</a:t>
            </a:r>
            <a:r>
              <a:rPr lang="ru-RU" sz="4000" dirty="0">
                <a:latin typeface="Akrobat ExtraBold" panose="00000900000000000000" pitchFamily="50" charset="-52"/>
              </a:rPr>
              <a:t> </a:t>
            </a:r>
            <a:r>
              <a:rPr lang="en-US" sz="4000" dirty="0">
                <a:latin typeface="Akrobat ExtraBold" panose="00000900000000000000" pitchFamily="50" charset="-52"/>
              </a:rPr>
              <a:t>Case Diagram</a:t>
            </a:r>
            <a:endParaRPr lang="ru-RU" sz="4000" dirty="0">
              <a:latin typeface="Akrobat ExtraBold" panose="00000900000000000000" pitchFamily="50" charset="-5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91116" y="1563758"/>
            <a:ext cx="363571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krobat ExtraBold" panose="00000900000000000000" pitchFamily="50" charset="-52"/>
              </a:rPr>
              <a:t>Диаграмма прецедентов/вариантов использования</a:t>
            </a:r>
          </a:p>
          <a:p>
            <a:endParaRPr lang="ru-RU" dirty="0">
              <a:latin typeface="Akrobat ExtraBold" panose="00000900000000000000" pitchFamily="50" charset="-5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ru-RU" dirty="0">
              <a:latin typeface="Akrobat ExtraBold" panose="00000900000000000000" pitchFamily="50" charset="-5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>
                <a:latin typeface="Akrobat ExtraBold" panose="00000900000000000000" pitchFamily="50" charset="-52"/>
              </a:rPr>
              <a:t>Описание возможных сценариев работы с системой с точки зрения пользователя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ru-RU" dirty="0">
              <a:latin typeface="Akrobat ExtraBold" panose="00000900000000000000" pitchFamily="50" charset="-5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>
                <a:latin typeface="Akrobat ExtraBold" panose="00000900000000000000" pitchFamily="50" charset="-52"/>
              </a:rPr>
              <a:t>Возможные пути использования системы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ru-RU" dirty="0">
              <a:latin typeface="Akrobat ExtraBold" panose="00000900000000000000" pitchFamily="50" charset="-5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>
                <a:latin typeface="Akrobat ExtraBold" panose="00000900000000000000" pitchFamily="50" charset="-52"/>
              </a:rPr>
              <a:t>Описание всех участников системы (актеры)</a:t>
            </a:r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063" y="1919255"/>
            <a:ext cx="6387979" cy="3967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2621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11826" y="371060"/>
            <a:ext cx="42738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Akrobat ExtraBold" panose="00000900000000000000" pitchFamily="50" charset="-52"/>
              </a:rPr>
              <a:t>Activity Diagram</a:t>
            </a:r>
            <a:endParaRPr lang="ru-RU" sz="4000" dirty="0">
              <a:latin typeface="Akrobat ExtraBold" panose="00000900000000000000" pitchFamily="50" charset="-5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27051" y="840120"/>
            <a:ext cx="4422297" cy="5724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>
              <a:latin typeface="Akrobat ExtraBold" panose="00000900000000000000" pitchFamily="50" charset="-5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ru-RU" dirty="0">
              <a:latin typeface="Akrobat ExtraBold" panose="00000900000000000000" pitchFamily="50" charset="-5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sz="2400" dirty="0">
                <a:latin typeface="Akrobat ExtraBold" panose="00000900000000000000" pitchFamily="50" charset="-52"/>
              </a:rPr>
              <a:t>Описание возможных бизнес-процессов приложения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ru-RU" sz="2400" dirty="0">
              <a:latin typeface="Akrobat ExtraBold" panose="00000900000000000000" pitchFamily="50" charset="-5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sz="2400" dirty="0">
                <a:latin typeface="Akrobat ExtraBold" panose="00000900000000000000" pitchFamily="50" charset="-52"/>
              </a:rPr>
              <a:t>Взаимодействие «потоков», пошаговое представление действия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ru-RU" sz="2400" dirty="0">
              <a:latin typeface="Akrobat ExtraBold" panose="00000900000000000000" pitchFamily="50" charset="-5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sz="2400" dirty="0">
                <a:latin typeface="Akrobat ExtraBold" panose="00000900000000000000" pitchFamily="50" charset="-52"/>
              </a:rPr>
              <a:t>Более низкий уровень, чем </a:t>
            </a:r>
            <a:r>
              <a:rPr lang="en-US" sz="2400" dirty="0" err="1">
                <a:latin typeface="Akrobat ExtraBold" panose="00000900000000000000" pitchFamily="50" charset="-52"/>
              </a:rPr>
              <a:t>UseCase</a:t>
            </a:r>
            <a:endParaRPr lang="ru-RU" sz="2400" dirty="0">
              <a:latin typeface="Akrobat ExtraBold" panose="00000900000000000000" pitchFamily="50" charset="-5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ru-RU" sz="2400" dirty="0">
              <a:latin typeface="Akrobat ExtraBold" panose="00000900000000000000" pitchFamily="50" charset="-5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sz="2400" dirty="0">
                <a:latin typeface="Akrobat ExtraBold" panose="00000900000000000000" pitchFamily="50" charset="-52"/>
              </a:rPr>
              <a:t>Может быть конкретным описанием блоков </a:t>
            </a:r>
            <a:r>
              <a:rPr lang="en-US" sz="2400" dirty="0" err="1">
                <a:latin typeface="Akrobat ExtraBold" panose="00000900000000000000" pitchFamily="50" charset="-52"/>
              </a:rPr>
              <a:t>UseCase</a:t>
            </a:r>
            <a:r>
              <a:rPr lang="ru-RU" sz="2400" dirty="0">
                <a:latin typeface="Akrobat ExtraBold" panose="00000900000000000000" pitchFamily="50" charset="-52"/>
              </a:rPr>
              <a:t> диаграмм</a:t>
            </a:r>
          </a:p>
          <a:p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8404" y="1138581"/>
            <a:ext cx="3865071" cy="5616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0258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90730" y="390940"/>
            <a:ext cx="528761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Akrobat ExtraBold" panose="00000900000000000000" pitchFamily="50" charset="-52"/>
              </a:rPr>
              <a:t>Sequence diagram</a:t>
            </a:r>
            <a:endParaRPr lang="ru-RU" sz="4400" dirty="0">
              <a:latin typeface="Akrobat ExtraBold" panose="00000900000000000000" pitchFamily="50" charset="-5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18707" y="1607521"/>
            <a:ext cx="398582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ru-RU" sz="2000" dirty="0">
                <a:latin typeface="Akrobat ExtraBold" panose="00000900000000000000" pitchFamily="50" charset="-52"/>
              </a:rPr>
              <a:t>Последовательность взаимодействия объектов для определенного бизнес-процесса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ru-RU" sz="2000" dirty="0">
              <a:latin typeface="Akrobat ExtraBold" panose="00000900000000000000" pitchFamily="50" charset="-52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ru-RU" sz="2000" dirty="0">
                <a:latin typeface="Akrobat ExtraBold" panose="00000900000000000000" pitchFamily="50" charset="-52"/>
              </a:rPr>
              <a:t>Как объекты друг друга вызывают и какие данные передают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ru-RU" sz="2000" dirty="0">
              <a:latin typeface="Akrobat ExtraBold" panose="00000900000000000000" pitchFamily="50" charset="-52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ru-RU" sz="2000" dirty="0">
                <a:latin typeface="Akrobat ExtraBold" panose="00000900000000000000" pitchFamily="50" charset="-52"/>
              </a:rPr>
              <a:t>Показывают объекты в действии</a:t>
            </a:r>
          </a:p>
          <a:p>
            <a:endParaRPr lang="ru-RU" sz="2000" dirty="0">
              <a:latin typeface="Akrobat ExtraBold" panose="00000900000000000000" pitchFamily="50" charset="-52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ru-RU" sz="2000" dirty="0">
                <a:latin typeface="Akrobat ExtraBold" panose="00000900000000000000" pitchFamily="50" charset="-52"/>
              </a:rPr>
              <a:t>Показывают время жизни объектов (создание, удаление)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6850" y="1270300"/>
            <a:ext cx="5269603" cy="550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4565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98574" y="390939"/>
            <a:ext cx="5029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Akrobat ExtraBold" panose="00000900000000000000" pitchFamily="50" charset="-52"/>
              </a:rPr>
              <a:t>Deployment diagram</a:t>
            </a:r>
            <a:endParaRPr lang="ru-RU" sz="4000" dirty="0">
              <a:latin typeface="Akrobat ExtraBold" panose="00000900000000000000" pitchFamily="50" charset="-5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78195" y="1951200"/>
            <a:ext cx="325741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sz="2400" dirty="0">
                <a:latin typeface="Akrobat ExtraBold" panose="00000900000000000000" pitchFamily="50" charset="-52"/>
              </a:rPr>
              <a:t>Описание архитектуры, топологии системы (ОС, БД, сервера и пр.)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ru-RU" sz="2400" dirty="0">
              <a:latin typeface="Akrobat ExtraBold" panose="00000900000000000000" pitchFamily="50" charset="-5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sz="2400" dirty="0">
                <a:latin typeface="Akrobat ExtraBold" panose="00000900000000000000" pitchFamily="50" charset="-52"/>
              </a:rPr>
              <a:t>Информация для администраторов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7162" y="2120810"/>
            <a:ext cx="6723669" cy="2877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7651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80494-E6BB-D740-9761-32E2BE893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Диаграмма вариантов использования</a:t>
            </a:r>
            <a:br>
              <a:rPr lang="ru-RU" altLang="ru-RU" dirty="0"/>
            </a:br>
            <a:r>
              <a:rPr lang="ru-RU" altLang="ru-RU" dirty="0"/>
              <a:t>(</a:t>
            </a:r>
            <a:r>
              <a:rPr lang="en-US" altLang="ru-RU" dirty="0"/>
              <a:t>U</a:t>
            </a:r>
            <a:r>
              <a:rPr lang="ru-RU" altLang="ru-RU" dirty="0" err="1"/>
              <a:t>se</a:t>
            </a:r>
            <a:r>
              <a:rPr lang="ru-RU" altLang="ru-RU" dirty="0"/>
              <a:t> </a:t>
            </a:r>
            <a:r>
              <a:rPr lang="en-US" altLang="ru-RU" dirty="0"/>
              <a:t>C</a:t>
            </a:r>
            <a:r>
              <a:rPr lang="ru-RU" altLang="ru-RU" dirty="0" err="1"/>
              <a:t>ase</a:t>
            </a:r>
            <a:r>
              <a:rPr lang="ru-RU" altLang="ru-RU" dirty="0"/>
              <a:t> </a:t>
            </a:r>
            <a:r>
              <a:rPr lang="en-US" altLang="ru-RU" dirty="0"/>
              <a:t>D</a:t>
            </a:r>
            <a:r>
              <a:rPr lang="ru-RU" altLang="ru-RU" dirty="0" err="1"/>
              <a:t>iagram</a:t>
            </a:r>
            <a:r>
              <a:rPr lang="ru-RU" altLang="ru-RU" dirty="0"/>
              <a:t>)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B97313-207D-9F46-90F1-BA6FFF3118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Диаграмма, отражающая отношения между актерами и прецедентами и являющаяся составной частью модели прецедентов, позволяющей описать систему на концептуальном уровне</a:t>
            </a:r>
            <a:endParaRPr lang="ru-RU" altLang="ru-RU" sz="2200" dirty="0">
              <a:latin typeface="Akrobat ExtraBold" panose="00000900000000000000" pitchFamily="50" charset="-52"/>
            </a:endParaRPr>
          </a:p>
          <a:p>
            <a:r>
              <a:rPr lang="ru-RU" dirty="0"/>
              <a:t>Диаграмма вариантов использования достаточно проста, что позволяет использовать ее для согласования технического задания с заказчиком</a:t>
            </a:r>
          </a:p>
        </p:txBody>
      </p:sp>
    </p:spTree>
    <p:extLst>
      <p:ext uri="{BB962C8B-B14F-4D97-AF65-F5344CB8AC3E}">
        <p14:creationId xmlns:p14="http://schemas.microsoft.com/office/powerpoint/2010/main" val="12327048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483D9-0316-DB4C-A5FB-7D6B94093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</a:t>
            </a:r>
            <a:r>
              <a:rPr lang="en-US" dirty="0"/>
              <a:t>Use Case Diagram</a:t>
            </a:r>
            <a:endParaRPr lang="ru-RU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A1AF28D-74C2-B347-99A9-2DBC7E2720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03752" y="1825625"/>
            <a:ext cx="618449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8898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8B157-625B-BA4B-84C7-0FF3E2023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Назначение диаграммы вариантов использования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96F7D7-A0AA-0B4B-BD9F-33EA658B9E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altLang="ru-RU" dirty="0"/>
              <a:t>Определить общие границы функциональности проектируемой системы в контексте моделируемой предметной области.</a:t>
            </a:r>
          </a:p>
          <a:p>
            <a:r>
              <a:rPr lang="ru-RU" altLang="ru-RU" dirty="0"/>
              <a:t>Специфицировать требования к функциональному поведению проектируемой системы в форме вариантов использования.</a:t>
            </a:r>
          </a:p>
          <a:p>
            <a:r>
              <a:rPr lang="ru-RU" altLang="ru-RU" dirty="0"/>
              <a:t>Разработать исходную концептуальную модель системы для ее последующей детализации в форме логических и физических моделей.</a:t>
            </a:r>
          </a:p>
          <a:p>
            <a:r>
              <a:rPr lang="ru-RU" altLang="ru-RU" dirty="0"/>
              <a:t>Подготовить исходную документацию для взаимодействия разработчиков системы с ее заказчиками и пользователями</a:t>
            </a:r>
          </a:p>
        </p:txBody>
      </p:sp>
    </p:spTree>
    <p:extLst>
      <p:ext uri="{BB962C8B-B14F-4D97-AF65-F5344CB8AC3E}">
        <p14:creationId xmlns:p14="http://schemas.microsoft.com/office/powerpoint/2010/main" val="39203847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C738F-4305-4D4C-8521-B4AC4F5E3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Прецеденты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4AC344-0462-C74F-960D-08855A4504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dirty="0" err="1">
                <a:latin typeface="Akrobat ExtraBold" panose="00000900000000000000" pitchFamily="50" charset="-52"/>
              </a:rPr>
              <a:t>UseCase</a:t>
            </a:r>
            <a:r>
              <a:rPr lang="en-US" dirty="0">
                <a:latin typeface="Akrobat ExtraBold" panose="00000900000000000000" pitchFamily="50" charset="-52"/>
              </a:rPr>
              <a:t>(</a:t>
            </a:r>
            <a:r>
              <a:rPr lang="ru-RU" dirty="0">
                <a:latin typeface="Akrobat ExtraBold" panose="00000900000000000000" pitchFamily="50" charset="-52"/>
              </a:rPr>
              <a:t>случай использования, прецедент) – набор сценариев, путей, которые нужно выполнить для достижения целей приложения (с точки зрения пользователей)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ru-RU" dirty="0">
                <a:latin typeface="Akrobat ExtraBold" panose="00000900000000000000" pitchFamily="50" charset="-52"/>
              </a:rPr>
              <a:t>Описывает участников (</a:t>
            </a:r>
            <a:r>
              <a:rPr lang="en-US" dirty="0">
                <a:latin typeface="Akrobat ExtraBold" panose="00000900000000000000" pitchFamily="50" charset="-52"/>
              </a:rPr>
              <a:t>actor)</a:t>
            </a:r>
            <a:r>
              <a:rPr lang="ru-RU" dirty="0">
                <a:latin typeface="Akrobat ExtraBold" panose="00000900000000000000" pitchFamily="50" charset="-52"/>
              </a:rPr>
              <a:t>, возможные сценарии (успешные и неудачные), которые выполняются для решения задач приложения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ru-RU" dirty="0">
                <a:latin typeface="Akrobat ExtraBold" panose="00000900000000000000" pitchFamily="50" charset="-52"/>
              </a:rPr>
              <a:t>Может описывать основные сценарии, которые составляют «ядро» приложения (дополнительные сценарии могут добавляться по ходу разработки)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ru-RU" dirty="0">
                <a:latin typeface="Akrobat ExtraBold" panose="00000900000000000000" pitchFamily="50" charset="-52"/>
              </a:rPr>
              <a:t>Ориентация на пользователей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724641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D75D2-998F-2C47-869C-B09EDC21B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Основные обозначения на диаграмме вариантов использования</a:t>
            </a:r>
            <a:endParaRPr lang="ru-RU" dirty="0"/>
          </a:p>
        </p:txBody>
      </p:sp>
      <p:pic>
        <p:nvPicPr>
          <p:cNvPr id="4" name="Picture 1027" descr="UC_00">
            <a:extLst>
              <a:ext uri="{FF2B5EF4-FFF2-40B4-BE49-F238E27FC236}">
                <a16:creationId xmlns:a16="http://schemas.microsoft.com/office/drawing/2014/main" id="{9DB8A8D1-0BB4-B045-8FB1-C7D58A3BD6B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9767" y="2078238"/>
            <a:ext cx="6952466" cy="413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931974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42E2E-195B-8F47-9997-DAC2B8EFF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Вариант использования (</a:t>
            </a:r>
            <a:r>
              <a:rPr lang="ru-RU" altLang="ru-RU" dirty="0" err="1"/>
              <a:t>use</a:t>
            </a:r>
            <a:r>
              <a:rPr lang="ru-RU" altLang="ru-RU" dirty="0"/>
              <a:t> </a:t>
            </a:r>
            <a:r>
              <a:rPr lang="ru-RU" altLang="ru-RU" dirty="0" err="1"/>
              <a:t>case</a:t>
            </a:r>
            <a:r>
              <a:rPr lang="ru-RU" altLang="ru-RU" dirty="0"/>
              <a:t>)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CFC251-2970-9349-9583-17B8F4CE13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ru-RU" altLang="ru-RU" dirty="0"/>
              <a:t>Представляет собой общую спецификацию совокупности выполняемых системой действий с целью предоставления некоторого наблюдаемого результата, который имеет значение для одного или нескольких актеров</a:t>
            </a:r>
          </a:p>
          <a:p>
            <a:pPr>
              <a:lnSpc>
                <a:spcPct val="80000"/>
              </a:lnSpc>
            </a:pPr>
            <a:r>
              <a:rPr lang="ru-RU" altLang="ru-RU" dirty="0"/>
              <a:t>Отвечает на вопрос «Что должна выполнять система?», не отвечая на вопрос «Как она должна выполнять это?»</a:t>
            </a:r>
          </a:p>
          <a:p>
            <a:pPr>
              <a:lnSpc>
                <a:spcPct val="80000"/>
              </a:lnSpc>
            </a:pPr>
            <a:r>
              <a:rPr lang="ru-RU" altLang="ru-RU" dirty="0"/>
              <a:t>Имена – отглагольное существительное или глагол в неопределенной форме</a:t>
            </a:r>
          </a:p>
        </p:txBody>
      </p:sp>
      <p:pic>
        <p:nvPicPr>
          <p:cNvPr id="4" name="Picture 4" descr="Рис_03_2а">
            <a:extLst>
              <a:ext uri="{FF2B5EF4-FFF2-40B4-BE49-F238E27FC236}">
                <a16:creationId xmlns:a16="http://schemas.microsoft.com/office/drawing/2014/main" id="{9D258E93-852C-B444-92BA-E62EF7D5C1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1912" y="4815443"/>
            <a:ext cx="3671888" cy="16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071929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FD88-EA57-224A-B19E-1D9261495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Актер (</a:t>
            </a:r>
            <a:r>
              <a:rPr lang="ru-RU" altLang="ru-RU" dirty="0" err="1"/>
              <a:t>actor</a:t>
            </a:r>
            <a:r>
              <a:rPr lang="ru-RU" altLang="ru-RU" dirty="0"/>
              <a:t>)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C5708-5317-F647-8EB9-181CE8ECC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altLang="ru-RU" dirty="0"/>
              <a:t>Любая </a:t>
            </a:r>
            <a:r>
              <a:rPr lang="ru-RU" altLang="ru-RU" b="1" dirty="0"/>
              <a:t>внешняя</a:t>
            </a:r>
            <a:r>
              <a:rPr lang="ru-RU" altLang="ru-RU" dirty="0"/>
              <a:t> по отношению к проектируемой системе сущность, которая взаимодействует с системой и использует ее функциональные возможности для достижения определенных целей или решения частных задач</a:t>
            </a:r>
          </a:p>
          <a:p>
            <a:r>
              <a:rPr lang="ru-RU" altLang="ru-RU" dirty="0"/>
              <a:t>Примеры актеров: кассир, клиент банка, банковский служащий, президент, продавец магазина, менеджер отдела продаж, пассажир авиарейса, водитель автомобиля, администратор гостиницы, сотовый телефон</a:t>
            </a:r>
          </a:p>
          <a:p>
            <a:endParaRPr lang="ru-RU" dirty="0"/>
          </a:p>
        </p:txBody>
      </p:sp>
      <p:pic>
        <p:nvPicPr>
          <p:cNvPr id="4" name="Picture 6" descr="Рис_03_4а">
            <a:extLst>
              <a:ext uri="{FF2B5EF4-FFF2-40B4-BE49-F238E27FC236}">
                <a16:creationId xmlns:a16="http://schemas.microsoft.com/office/drawing/2014/main" id="{409BFBEA-9268-5840-B034-6010F8956B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1712" y="4972050"/>
            <a:ext cx="1462088" cy="133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333011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45C507-A09C-4FF1-8C54-E673AE77B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68F2BE5-5E44-40CD-BDBC-028688B08F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7728E3F-6F40-4ADC-83AF-B1D05BFCB72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57939" y="365125"/>
            <a:ext cx="11236271" cy="6127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4558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E871D-F8AA-E441-9BF1-0C7C246AB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Отношения на диаграмме вариантов использования </a:t>
            </a:r>
            <a:endParaRPr lang="ru-RU" dirty="0"/>
          </a:p>
        </p:txBody>
      </p:sp>
      <p:pic>
        <p:nvPicPr>
          <p:cNvPr id="4" name="Content Placeholder 3" descr="UC_03">
            <a:extLst>
              <a:ext uri="{FF2B5EF4-FFF2-40B4-BE49-F238E27FC236}">
                <a16:creationId xmlns:a16="http://schemas.microsoft.com/office/drawing/2014/main" id="{2CB8F914-9E4F-9245-85BF-55884951511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2375" y="2094611"/>
            <a:ext cx="7927249" cy="43168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419156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7DADF-891D-774E-A745-4FE9D7D16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Отношение ассоциации 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D0A7A-CDB8-724D-9D11-634F7C2E67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altLang="ru-RU" dirty="0"/>
              <a:t>Ассоциация (</a:t>
            </a:r>
            <a:r>
              <a:rPr lang="ru-RU" altLang="ru-RU" dirty="0" err="1"/>
              <a:t>association</a:t>
            </a:r>
            <a:r>
              <a:rPr lang="ru-RU" altLang="ru-RU" dirty="0"/>
              <a:t>) является одним из фундаментальных понятий в языке UML 2.х и может использоваться на различных канонических диаграммах при построении визуальных моделей</a:t>
            </a:r>
          </a:p>
          <a:p>
            <a:pPr algn="just"/>
            <a:r>
              <a:rPr lang="ru-RU" altLang="ru-RU" dirty="0"/>
              <a:t>Применительно к диаграммам вариантов использования отношение ассоциации может служить только для обозначения взаимодействия актера с вариантом использования. </a:t>
            </a:r>
          </a:p>
        </p:txBody>
      </p:sp>
      <p:pic>
        <p:nvPicPr>
          <p:cNvPr id="4" name="Picture 5" descr="Рис_03_6">
            <a:extLst>
              <a:ext uri="{FF2B5EF4-FFF2-40B4-BE49-F238E27FC236}">
                <a16:creationId xmlns:a16="http://schemas.microsoft.com/office/drawing/2014/main" id="{F8082F40-81C5-C842-AAF8-B2E74E221C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3614" y="4797425"/>
            <a:ext cx="5807075" cy="1684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29785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1079B-FE87-3848-8A86-E62C37918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Отношение включения 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8A0D4-1648-8041-B7A1-EBEFF8F42A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altLang="ru-RU" dirty="0"/>
              <a:t>Отношение включения (</a:t>
            </a:r>
            <a:r>
              <a:rPr lang="ru-RU" altLang="ru-RU" dirty="0" err="1"/>
              <a:t>include</a:t>
            </a:r>
            <a:r>
              <a:rPr lang="ru-RU" altLang="ru-RU" dirty="0"/>
              <a:t>) специфицирует тот факт, что некоторый вариант использования содержит поведение, определенное в другом варианте использования</a:t>
            </a:r>
          </a:p>
        </p:txBody>
      </p:sp>
      <p:pic>
        <p:nvPicPr>
          <p:cNvPr id="4" name="Picture 4" descr="Рис_03_8">
            <a:extLst>
              <a:ext uri="{FF2B5EF4-FFF2-40B4-BE49-F238E27FC236}">
                <a16:creationId xmlns:a16="http://schemas.microsoft.com/office/drawing/2014/main" id="{ACE2F160-AEBF-EF41-9320-4A30ECEA39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1168" y="3617181"/>
            <a:ext cx="6659563" cy="164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602085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DD34F-7FE5-3146-B2EF-F92FF581D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Отношение расширения 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55F20-9B95-AB42-B1FD-168C92DE93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altLang="ru-RU" dirty="0"/>
              <a:t>Отношение расширения (</a:t>
            </a:r>
            <a:r>
              <a:rPr lang="ru-RU" altLang="ru-RU" dirty="0" err="1"/>
              <a:t>extend</a:t>
            </a:r>
            <a:r>
              <a:rPr lang="ru-RU" altLang="ru-RU" dirty="0"/>
              <a:t>) определяет взаимосвязь одного варианта использования с некоторым другим вариантом использования, функциональность или поведение которого задействуется первым не всегда, а только при выполнении некоторых дополнительных условий.</a:t>
            </a:r>
          </a:p>
        </p:txBody>
      </p:sp>
      <p:pic>
        <p:nvPicPr>
          <p:cNvPr id="4" name="Picture 1028" descr="Рис_03_9">
            <a:extLst>
              <a:ext uri="{FF2B5EF4-FFF2-40B4-BE49-F238E27FC236}">
                <a16:creationId xmlns:a16="http://schemas.microsoft.com/office/drawing/2014/main" id="{28AF7BBF-1029-C14C-96C2-098A4D06DA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286" y="4277082"/>
            <a:ext cx="5896705" cy="1371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Рис_03_11">
            <a:extLst>
              <a:ext uri="{FF2B5EF4-FFF2-40B4-BE49-F238E27FC236}">
                <a16:creationId xmlns:a16="http://schemas.microsoft.com/office/drawing/2014/main" id="{DE328A8A-0D2C-2846-B4B2-9F09ACD1A0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8336" y="4277082"/>
            <a:ext cx="5285809" cy="24692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065883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11D4F-A61C-B84D-932C-EA5798A2F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Отношение обобщения 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C5790-560C-5145-B838-9E178E79B2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altLang="ru-RU" dirty="0"/>
              <a:t>Отношение обобщения (</a:t>
            </a:r>
            <a:r>
              <a:rPr lang="ru-RU" altLang="ru-RU" dirty="0" err="1"/>
              <a:t>generalization</a:t>
            </a:r>
            <a:r>
              <a:rPr lang="ru-RU" altLang="ru-RU" dirty="0"/>
              <a:t> </a:t>
            </a:r>
            <a:r>
              <a:rPr lang="ru-RU" altLang="ru-RU" dirty="0" err="1"/>
              <a:t>relationship</a:t>
            </a:r>
            <a:r>
              <a:rPr lang="ru-RU" altLang="ru-RU" dirty="0"/>
              <a:t>) предназначено для спецификации того факта, что один элемент модели является специальным или частным случаем другого элемента модели</a:t>
            </a:r>
          </a:p>
        </p:txBody>
      </p:sp>
      <p:pic>
        <p:nvPicPr>
          <p:cNvPr id="4" name="Picture 6" descr="Рис_03_13">
            <a:extLst>
              <a:ext uri="{FF2B5EF4-FFF2-40B4-BE49-F238E27FC236}">
                <a16:creationId xmlns:a16="http://schemas.microsoft.com/office/drawing/2014/main" id="{468D6948-0AC7-E14B-B585-95AECA1C53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9381" y="3880884"/>
            <a:ext cx="4313238" cy="218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237420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C94E8-6AE7-BB4A-A485-24A0AD0C5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ПРАКТИКА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91993-14B6-2D43-A34A-4B3A2DC548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1400" b="1" dirty="0">
                <a:latin typeface="Akrobat ExtraBold" panose="00000900000000000000"/>
              </a:rPr>
              <a:t>Мобильное приложение «</a:t>
            </a:r>
            <a:r>
              <a:rPr lang="ru-RU" sz="1400" b="1" dirty="0" err="1">
                <a:latin typeface="Akrobat ExtraBold" panose="00000900000000000000"/>
              </a:rPr>
              <a:t>Петроэлектросбыт</a:t>
            </a:r>
            <a:r>
              <a:rPr lang="ru-RU" sz="1400" b="1" dirty="0">
                <a:latin typeface="Akrobat ExtraBold" panose="00000900000000000000"/>
              </a:rPr>
              <a:t>»</a:t>
            </a:r>
          </a:p>
          <a:p>
            <a:pPr algn="just"/>
            <a:r>
              <a:rPr lang="ru-RU" sz="1400" dirty="0">
                <a:latin typeface="Akrobat ExtraBold" panose="00000900000000000000"/>
              </a:rPr>
              <a:t>Пользователь устанавливает приложение и регистрируется, указав ФИО и лицевой счет, пароль.  Так же пользователь может прикрепить данные банковской карты для быстрой оплаты, но не обязательно. </a:t>
            </a:r>
          </a:p>
          <a:p>
            <a:pPr algn="just"/>
            <a:r>
              <a:rPr lang="ru-RU" sz="1400" dirty="0">
                <a:latin typeface="Akrobat ExtraBold" panose="00000900000000000000"/>
              </a:rPr>
              <a:t>Работа возможна для авторизованного пользователя.</a:t>
            </a:r>
          </a:p>
          <a:p>
            <a:pPr algn="just"/>
            <a:r>
              <a:rPr lang="ru-RU" sz="1400" dirty="0">
                <a:latin typeface="Akrobat ExtraBold" panose="00000900000000000000"/>
              </a:rPr>
              <a:t>Пользователь может оплатить услуги за электроэнергию, введя показания индивидуального прибора учета. При введении показаний пользователь может запросить отчет по оплате своего лицевого счета, указав период для отчет. </a:t>
            </a:r>
          </a:p>
          <a:p>
            <a:pPr algn="just"/>
            <a:r>
              <a:rPr lang="ru-RU" sz="1400" dirty="0">
                <a:latin typeface="Akrobat ExtraBold" panose="00000900000000000000"/>
              </a:rPr>
              <a:t>Если карта не «привязана» к аккаунту, то пользователь вводит данные банковской карты и подтверждает оплату. Если карта «привязана», пользователь подтверждает оплату. После оплаты приложение генерирует квитанцию по оплате, которую пользователь может скачать. При закрытии приложения квитанция не сохраняется.</a:t>
            </a:r>
          </a:p>
          <a:p>
            <a:pPr algn="just"/>
            <a:endParaRPr lang="ru-RU" sz="1400" dirty="0">
              <a:latin typeface="Akrobat ExtraBold" panose="00000900000000000000"/>
            </a:endParaRPr>
          </a:p>
          <a:p>
            <a:pPr algn="just"/>
            <a:r>
              <a:rPr lang="ru-RU" sz="1400" dirty="0">
                <a:latin typeface="Akrobat ExtraBold" panose="00000900000000000000"/>
              </a:rPr>
              <a:t>Порядок работы: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sz="1400" dirty="0">
                <a:latin typeface="Akrobat ExtraBold" panose="00000900000000000000"/>
              </a:rPr>
              <a:t>Определим актеров </a:t>
            </a:r>
            <a:r>
              <a:rPr lang="en-US" sz="1400" dirty="0">
                <a:latin typeface="Akrobat ExtraBold" panose="00000900000000000000"/>
              </a:rPr>
              <a:t>(actor)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sz="1400" dirty="0">
                <a:latin typeface="Akrobat ExtraBold" panose="00000900000000000000"/>
              </a:rPr>
              <a:t>Определим варианты использования </a:t>
            </a:r>
            <a:r>
              <a:rPr lang="en-US" sz="1400" dirty="0">
                <a:latin typeface="Akrobat ExtraBold" panose="00000900000000000000"/>
              </a:rPr>
              <a:t>(use-case)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sz="1400" dirty="0">
                <a:latin typeface="Akrobat ExtraBold" panose="00000900000000000000"/>
              </a:rPr>
              <a:t>Определим виды взаимодействия (ассоциации, расширения, включения)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sz="1400" dirty="0">
                <a:latin typeface="Akrobat ExtraBold" panose="00000900000000000000"/>
              </a:rPr>
              <a:t>Построим диаграмму.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9795823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2FE5E-D5C3-C445-ABAA-1F3121FF6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Диаграммы последовательностей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5B4DF-B1F1-BA4C-883F-4C7DBE2004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784805" cy="4351338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Диаграммы последовательности следует применять тогда, когда требуется посмотреть на поведение нескольких объектов в рамках одного прецедента. </a:t>
            </a:r>
            <a:endParaRPr lang="en-US" dirty="0"/>
          </a:p>
          <a:p>
            <a:r>
              <a:rPr lang="ru-RU" dirty="0"/>
              <a:t>Диаграммы последовательности хороши для представления </a:t>
            </a:r>
            <a:r>
              <a:rPr lang="ru-RU" dirty="0" err="1"/>
              <a:t>взаимодействия</a:t>
            </a:r>
            <a:r>
              <a:rPr lang="ru-RU" dirty="0"/>
              <a:t> объектов, но не очень подходят для точного определения поведения. </a:t>
            </a:r>
            <a:endParaRPr lang="en-US" dirty="0"/>
          </a:p>
          <a:p>
            <a:r>
              <a:rPr lang="ru-RU" dirty="0"/>
              <a:t>На диаграмме показаны экземпляры объектов и сообщения, которыми обмениваются объекты в рамках одного прецедента (</a:t>
            </a:r>
            <a:r>
              <a:rPr lang="en-US" dirty="0"/>
              <a:t>use case).</a:t>
            </a:r>
            <a:endParaRPr lang="ru-R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288F09-815F-784F-B637-DF4B1F8366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5507" y="1916556"/>
            <a:ext cx="4299493" cy="4260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0744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F8A84-49B6-8E45-BEE0-A33D0EFB9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Линия жизни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3427F-B033-544E-94FE-3F078DC505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Диаграммы последовательности показывают </a:t>
            </a:r>
            <a:r>
              <a:rPr lang="ru-RU" dirty="0" err="1"/>
              <a:t>взаимодействие</a:t>
            </a:r>
            <a:r>
              <a:rPr lang="ru-RU" dirty="0"/>
              <a:t>, представляя каждого участника вместе с его </a:t>
            </a:r>
            <a:r>
              <a:rPr lang="ru-RU" dirty="0" err="1"/>
              <a:t>линиеи</a:t>
            </a:r>
            <a:r>
              <a:rPr lang="ru-RU" dirty="0"/>
              <a:t>̆ жизни (</a:t>
            </a:r>
            <a:r>
              <a:rPr lang="en-US" dirty="0"/>
              <a:t>lifeline), </a:t>
            </a:r>
            <a:r>
              <a:rPr lang="ru-RU" dirty="0"/>
              <a:t>которая идет вертикально вниз и упорядочивает сообщения на странице. </a:t>
            </a:r>
            <a:endParaRPr lang="en-US" dirty="0"/>
          </a:p>
          <a:p>
            <a:r>
              <a:rPr lang="ru-RU" dirty="0"/>
              <a:t>Сообщения также следует читать сверху вниз.</a:t>
            </a:r>
          </a:p>
          <a:p>
            <a:r>
              <a:rPr lang="ru-RU" dirty="0"/>
              <a:t>Объекты подписываются в формате «</a:t>
            </a:r>
            <a:r>
              <a:rPr lang="ru-RU" dirty="0" err="1"/>
              <a:t>объект:класс</a:t>
            </a:r>
            <a:r>
              <a:rPr lang="ru-RU" dirty="0"/>
              <a:t>» и могут изображаться как в виде обычных прямоугольников, так и с использованием дополнительных обозначений, например, элемента Актер.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605EC7-53E0-E347-B97F-41DEA6D0A8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001" y="482082"/>
            <a:ext cx="7034479" cy="783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1552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C1476-4B38-5B4B-8AFD-986BA8A86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Сообщения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5B6EB-2053-5348-8726-BE80675B4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Сообщения отражают взаимодействие (в том числе вызов функций) и изображаются горизонтальными стрелками, концы которых располагаются на линиях жизни. </a:t>
            </a:r>
          </a:p>
          <a:p>
            <a:r>
              <a:rPr lang="ru-RU" dirty="0"/>
              <a:t>Стрелки направлены от отправителя к адресату и упорядочены по времени с помощью линии жизни.</a:t>
            </a:r>
          </a:p>
          <a:p>
            <a:r>
              <a:rPr lang="ru-RU" dirty="0"/>
              <a:t>Также объекту может приходить ответ на сообщение, или </a:t>
            </a:r>
            <a:r>
              <a:rPr lang="en-US" dirty="0"/>
              <a:t>Return Message, </a:t>
            </a:r>
            <a:r>
              <a:rPr lang="ru-RU" dirty="0"/>
              <a:t>указывающий на завершение обработки предыдущего сообщения и его результат.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AB5B5D-56DF-1346-8367-529CE84E62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4413" y="365125"/>
            <a:ext cx="2959100" cy="125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6654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2142673" y="314201"/>
            <a:ext cx="7927073" cy="738189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200" dirty="0"/>
              <a:t>Диаграмма последовательностей: типы сообщений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9165384-43C4-1941-868E-D66A291601DF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78690EE-41FD-BD42-A50D-78C9522166F9}"/>
              </a:ext>
            </a:extLst>
          </p:cNvPr>
          <p:cNvSpPr/>
          <p:nvPr/>
        </p:nvSpPr>
        <p:spPr>
          <a:xfrm>
            <a:off x="442258" y="1644181"/>
            <a:ext cx="11574683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202122"/>
                </a:solidFill>
                <a:latin typeface="Arial" panose="020B0604020202020204" pitchFamily="34" charset="0"/>
              </a:rPr>
              <a:t>Синхронное сообщение</a:t>
            </a:r>
            <a:r>
              <a:rPr lang="ru-RU" dirty="0">
                <a:solidFill>
                  <a:srgbClr val="202122"/>
                </a:solidFill>
                <a:latin typeface="Arial" panose="020B0604020202020204" pitchFamily="34" charset="0"/>
              </a:rPr>
              <a:t> — </a:t>
            </a:r>
            <a:r>
              <a:rPr lang="ru-RU" dirty="0" err="1">
                <a:solidFill>
                  <a:srgbClr val="202122"/>
                </a:solidFill>
                <a:latin typeface="Arial" panose="020B0604020202020204" pitchFamily="34" charset="0"/>
              </a:rPr>
              <a:t>актор</a:t>
            </a:r>
            <a:r>
              <a:rPr lang="ru-RU" dirty="0">
                <a:solidFill>
                  <a:srgbClr val="202122"/>
                </a:solidFill>
                <a:latin typeface="Arial" panose="020B0604020202020204" pitchFamily="34" charset="0"/>
              </a:rPr>
              <a:t>-отправитель передаёт ход управления </a:t>
            </a:r>
            <a:r>
              <a:rPr lang="ru-RU" dirty="0" err="1">
                <a:solidFill>
                  <a:srgbClr val="202122"/>
                </a:solidFill>
                <a:latin typeface="Arial" panose="020B0604020202020204" pitchFamily="34" charset="0"/>
              </a:rPr>
              <a:t>актору</a:t>
            </a:r>
            <a:r>
              <a:rPr lang="ru-RU" dirty="0">
                <a:solidFill>
                  <a:srgbClr val="202122"/>
                </a:solidFill>
                <a:latin typeface="Arial" panose="020B0604020202020204" pitchFamily="34" charset="0"/>
              </a:rPr>
              <a:t>-получателю, которому необходимо провести в прецеденте некоторое действие. Пока проводимое </a:t>
            </a:r>
            <a:r>
              <a:rPr lang="ru-RU" dirty="0" err="1">
                <a:solidFill>
                  <a:srgbClr val="202122"/>
                </a:solidFill>
                <a:latin typeface="Arial" panose="020B0604020202020204" pitchFamily="34" charset="0"/>
              </a:rPr>
              <a:t>актором</a:t>
            </a:r>
            <a:r>
              <a:rPr lang="ru-RU" dirty="0">
                <a:solidFill>
                  <a:srgbClr val="202122"/>
                </a:solidFill>
                <a:latin typeface="Arial" panose="020B0604020202020204" pitchFamily="34" charset="0"/>
              </a:rPr>
              <a:t>-получателем действие не будет завершено (соответственно, не будет получено ответное сообщение), </a:t>
            </a:r>
            <a:r>
              <a:rPr lang="ru-RU" dirty="0" err="1">
                <a:solidFill>
                  <a:srgbClr val="202122"/>
                </a:solidFill>
                <a:latin typeface="Arial" panose="020B0604020202020204" pitchFamily="34" charset="0"/>
              </a:rPr>
              <a:t>актор</a:t>
            </a:r>
            <a:r>
              <a:rPr lang="ru-RU" dirty="0">
                <a:solidFill>
                  <a:srgbClr val="202122"/>
                </a:solidFill>
                <a:latin typeface="Arial" panose="020B0604020202020204" pitchFamily="34" charset="0"/>
              </a:rPr>
              <a:t>-отправитель теряет возможность производить какие-либо действия. Графически изображается как стрелка с закрашенным треугольником, после которой идёт прямоугольник, отражающий деятельность объекта, в конце которого находится ответное сообщение.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ru-RU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202122"/>
                </a:solidFill>
                <a:latin typeface="Arial" panose="020B0604020202020204" pitchFamily="34" charset="0"/>
              </a:rPr>
              <a:t>Ответное </a:t>
            </a:r>
            <a:r>
              <a:rPr lang="en" b="1" dirty="0">
                <a:solidFill>
                  <a:srgbClr val="202122"/>
                </a:solidFill>
                <a:latin typeface="Arial" panose="020B0604020202020204" pitchFamily="34" charset="0"/>
              </a:rPr>
              <a:t>c</a:t>
            </a:r>
            <a:r>
              <a:rPr lang="ru-RU" b="1" dirty="0" err="1">
                <a:solidFill>
                  <a:srgbClr val="202122"/>
                </a:solidFill>
                <a:latin typeface="Arial" panose="020B0604020202020204" pitchFamily="34" charset="0"/>
              </a:rPr>
              <a:t>ообщение</a:t>
            </a:r>
            <a:r>
              <a:rPr lang="ru-RU" dirty="0">
                <a:solidFill>
                  <a:srgbClr val="202122"/>
                </a:solidFill>
                <a:latin typeface="Arial" panose="020B0604020202020204" pitchFamily="34" charset="0"/>
              </a:rPr>
              <a:t> — данное сообщение является ответом на синхронное сообщение. Обычно, содержит какое-либо возвращаемое изначальному </a:t>
            </a:r>
            <a:r>
              <a:rPr lang="ru-RU" dirty="0" err="1">
                <a:solidFill>
                  <a:srgbClr val="202122"/>
                </a:solidFill>
                <a:latin typeface="Arial" panose="020B0604020202020204" pitchFamily="34" charset="0"/>
              </a:rPr>
              <a:t>актору</a:t>
            </a:r>
            <a:r>
              <a:rPr lang="ru-RU" dirty="0">
                <a:solidFill>
                  <a:srgbClr val="202122"/>
                </a:solidFill>
                <a:latin typeface="Arial" panose="020B0604020202020204" pitchFamily="34" charset="0"/>
              </a:rPr>
              <a:t>-отправителю значение, также возвращающее ему управление (возможность действовать).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ru-RU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202122"/>
                </a:solidFill>
                <a:latin typeface="Arial" panose="020B0604020202020204" pitchFamily="34" charset="0"/>
              </a:rPr>
              <a:t>Асинхронное сообщение</a:t>
            </a:r>
            <a:r>
              <a:rPr lang="ru-RU" dirty="0">
                <a:solidFill>
                  <a:srgbClr val="202122"/>
                </a:solidFill>
                <a:latin typeface="Arial" panose="020B0604020202020204" pitchFamily="34" charset="0"/>
              </a:rPr>
              <a:t> — актёр-отправитель передаёт ход управления </a:t>
            </a:r>
            <a:r>
              <a:rPr lang="ru-RU" dirty="0" err="1">
                <a:solidFill>
                  <a:srgbClr val="202122"/>
                </a:solidFill>
                <a:latin typeface="Arial" panose="020B0604020202020204" pitchFamily="34" charset="0"/>
              </a:rPr>
              <a:t>актору</a:t>
            </a:r>
            <a:r>
              <a:rPr lang="ru-RU" dirty="0">
                <a:solidFill>
                  <a:srgbClr val="202122"/>
                </a:solidFill>
                <a:latin typeface="Arial" panose="020B0604020202020204" pitchFamily="34" charset="0"/>
              </a:rPr>
              <a:t>-получателю, которому необходимо провести в прецеденте некоторое действие. Основное отличие от синхронного сообщения состоит в том, что </a:t>
            </a:r>
            <a:r>
              <a:rPr lang="ru-RU" dirty="0" err="1">
                <a:solidFill>
                  <a:srgbClr val="202122"/>
                </a:solidFill>
                <a:latin typeface="Arial" panose="020B0604020202020204" pitchFamily="34" charset="0"/>
              </a:rPr>
              <a:t>актор</a:t>
            </a:r>
            <a:r>
              <a:rPr lang="ru-RU" dirty="0">
                <a:solidFill>
                  <a:srgbClr val="202122"/>
                </a:solidFill>
                <a:latin typeface="Arial" panose="020B0604020202020204" pitchFamily="34" charset="0"/>
              </a:rPr>
              <a:t>-отправитель не теряет возможности совершать другие действия.</a:t>
            </a:r>
            <a:endParaRPr lang="ru-RU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57223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63136" y="538996"/>
            <a:ext cx="10984675" cy="11106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ctr">
              <a:lnSpc>
                <a:spcPct val="107000"/>
              </a:lnSpc>
              <a:spcAft>
                <a:spcPts val="0"/>
              </a:spcAft>
            </a:pPr>
            <a:r>
              <a:rPr lang="ru-RU" sz="3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Диаграммы последовательностей</a:t>
            </a:r>
          </a:p>
          <a:p>
            <a:pPr indent="450215" algn="just">
              <a:lnSpc>
                <a:spcPct val="107000"/>
              </a:lnSpc>
              <a:spcAft>
                <a:spcPts val="0"/>
              </a:spcAft>
            </a:pPr>
            <a:endParaRPr lang="ru-RU" sz="32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C533386-53E9-5942-B015-957EBD3ABBE8}"/>
              </a:ext>
            </a:extLst>
          </p:cNvPr>
          <p:cNvSpPr/>
          <p:nvPr/>
        </p:nvSpPr>
        <p:spPr>
          <a:xfrm>
            <a:off x="744189" y="1649685"/>
            <a:ext cx="1027817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Диаграммы последовательностей используются для уточнения диаграмм вариантов использования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более детального описания логики сценариев использования. </a:t>
            </a:r>
          </a:p>
          <a:p>
            <a:pPr algn="just"/>
            <a:endParaRPr lang="ru-RU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Диаграммы последовательностей обычно содержат 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объекты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которые 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взаимодействуют в рамках сценария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сообщения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которыми они обмениваются, и 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возвращаемые результаты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связанные с сообщениями. </a:t>
            </a:r>
          </a:p>
          <a:p>
            <a:pPr algn="just"/>
            <a:endParaRPr lang="ru-RU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Объекты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обозначаются прямоугольниками с подчеркнутыми именами</a:t>
            </a:r>
          </a:p>
          <a:p>
            <a:pPr algn="just"/>
            <a:endParaRPr lang="ru-RU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Сообщения (вызовы методов)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- линиями со стрелками</a:t>
            </a:r>
          </a:p>
          <a:p>
            <a:pPr algn="just"/>
            <a:endParaRPr lang="ru-RU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Возвращаемые результаты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- пунктирными линиями со стрелками</a:t>
            </a:r>
            <a:endParaRPr lang="ru-RU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79400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63136" y="538996"/>
            <a:ext cx="10984675" cy="11202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ctr">
              <a:lnSpc>
                <a:spcPct val="107000"/>
              </a:lnSpc>
              <a:spcAft>
                <a:spcPts val="0"/>
              </a:spcAft>
            </a:pPr>
            <a:r>
              <a:rPr lang="ru-RU" sz="3200" dirty="0"/>
              <a:t>Диаграмма последовательности для варианта использования «Заказать товар со склада»</a:t>
            </a:r>
            <a:endParaRPr lang="ru-RU" sz="32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6A0D3AC-FAC1-5E4F-B2E9-244BCBD672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698" y="1758789"/>
            <a:ext cx="8051800" cy="412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2641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63136" y="538996"/>
            <a:ext cx="10984675" cy="11106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ctr">
              <a:lnSpc>
                <a:spcPct val="107000"/>
              </a:lnSpc>
              <a:spcAft>
                <a:spcPts val="0"/>
              </a:spcAft>
            </a:pPr>
            <a:r>
              <a:rPr lang="ru-RU" sz="3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Диаграммы последовательностей: синтаксис</a:t>
            </a:r>
          </a:p>
          <a:p>
            <a:pPr indent="450215" algn="just">
              <a:lnSpc>
                <a:spcPct val="107000"/>
              </a:lnSpc>
              <a:spcAft>
                <a:spcPts val="0"/>
              </a:spcAft>
            </a:pPr>
            <a:endParaRPr lang="ru-RU" sz="32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C533386-53E9-5942-B015-957EBD3ABBE8}"/>
              </a:ext>
            </a:extLst>
          </p:cNvPr>
          <p:cNvSpPr/>
          <p:nvPr/>
        </p:nvSpPr>
        <p:spPr>
          <a:xfrm>
            <a:off x="744189" y="1649685"/>
            <a:ext cx="1027817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Объявление участников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ctor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participant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boundary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collections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CF0F612-13CC-4F47-8D7A-4423BBE3921E}"/>
              </a:ext>
            </a:extLst>
          </p:cNvPr>
          <p:cNvSpPr/>
          <p:nvPr/>
        </p:nvSpPr>
        <p:spPr>
          <a:xfrm>
            <a:off x="744189" y="4054153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@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startuml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actor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Актор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participant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Объект</a:t>
            </a:r>
          </a:p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boundary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Этап</a:t>
            </a:r>
          </a:p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control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entity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Сущность</a:t>
            </a:r>
          </a:p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База_данных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@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enduml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D6094E7-6D14-FD42-8204-96694F1B32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885" y="2219847"/>
            <a:ext cx="6553200" cy="260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306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63135" y="0"/>
            <a:ext cx="10984675" cy="11106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ctr">
              <a:lnSpc>
                <a:spcPct val="107000"/>
              </a:lnSpc>
              <a:spcAft>
                <a:spcPts val="0"/>
              </a:spcAft>
            </a:pPr>
            <a:r>
              <a:rPr lang="ru-RU" sz="3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Диаграммы последовательностей: синтаксис</a:t>
            </a:r>
          </a:p>
          <a:p>
            <a:pPr indent="450215" algn="just">
              <a:lnSpc>
                <a:spcPct val="107000"/>
              </a:lnSpc>
              <a:spcAft>
                <a:spcPts val="0"/>
              </a:spcAft>
            </a:pPr>
            <a:endParaRPr lang="ru-RU" sz="32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C533386-53E9-5942-B015-957EBD3ABBE8}"/>
              </a:ext>
            </a:extLst>
          </p:cNvPr>
          <p:cNvSpPr/>
          <p:nvPr/>
        </p:nvSpPr>
        <p:spPr>
          <a:xfrm>
            <a:off x="654342" y="555344"/>
            <a:ext cx="1027817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сообщения между участниками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 - синхронное сообщение (сплошная линия)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-- &gt;  -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ответное сообщение (пунктир)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  <a:sym typeface="Wingdings" pitchFamily="2" charset="2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Можно изменить стиль стрелок следующими способами: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закончить стрелку с помощью 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x 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обозначения потерянного сообщения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используя \ или / вместо &lt; или &gt; для создания только верхней или нижней части стрелки.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окончание стрелки (например, &gt;&gt; 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 //)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тонкой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отрисовки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символ "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o"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острие стрелки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двунаправленные стрелки &lt;-&gt;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  <a:sym typeface="Wingdings" pitchFamily="2" charset="2"/>
            </a:endParaRPr>
          </a:p>
          <a:p>
            <a:endParaRPr lang="e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C129981-C582-7844-83BF-669941692F9F}"/>
              </a:ext>
            </a:extLst>
          </p:cNvPr>
          <p:cNvSpPr/>
          <p:nvPr/>
        </p:nvSpPr>
        <p:spPr>
          <a:xfrm>
            <a:off x="1103453" y="3341377"/>
            <a:ext cx="6096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" dirty="0"/>
              <a:t>@</a:t>
            </a:r>
            <a:r>
              <a:rPr lang="en" dirty="0" err="1"/>
              <a:t>startuml</a:t>
            </a:r>
            <a:r>
              <a:rPr lang="en" dirty="0"/>
              <a:t> </a:t>
            </a:r>
            <a:endParaRPr lang="ru-RU" dirty="0"/>
          </a:p>
          <a:p>
            <a:r>
              <a:rPr lang="en" dirty="0"/>
              <a:t>Bob -&gt;x Alice </a:t>
            </a:r>
            <a:endParaRPr lang="ru-RU" dirty="0"/>
          </a:p>
          <a:p>
            <a:r>
              <a:rPr lang="en" dirty="0"/>
              <a:t>Bob -&gt; Alice </a:t>
            </a:r>
            <a:endParaRPr lang="ru-RU" dirty="0"/>
          </a:p>
          <a:p>
            <a:r>
              <a:rPr lang="en" dirty="0"/>
              <a:t>Bob -&gt;&gt; Alice </a:t>
            </a:r>
            <a:endParaRPr lang="ru-RU" dirty="0"/>
          </a:p>
          <a:p>
            <a:r>
              <a:rPr lang="en" dirty="0"/>
              <a:t>Bob -\ Alice </a:t>
            </a:r>
            <a:endParaRPr lang="ru-RU" dirty="0"/>
          </a:p>
          <a:p>
            <a:r>
              <a:rPr lang="en" dirty="0"/>
              <a:t>Bob \\- Alice </a:t>
            </a:r>
            <a:endParaRPr lang="ru-RU" dirty="0"/>
          </a:p>
          <a:p>
            <a:r>
              <a:rPr lang="en" dirty="0"/>
              <a:t>Bob //-- Alice </a:t>
            </a:r>
            <a:endParaRPr lang="ru-RU" dirty="0"/>
          </a:p>
          <a:p>
            <a:r>
              <a:rPr lang="en" dirty="0"/>
              <a:t>Bob -&gt;o Alice </a:t>
            </a:r>
            <a:endParaRPr lang="ru-RU" dirty="0"/>
          </a:p>
          <a:p>
            <a:r>
              <a:rPr lang="en" dirty="0"/>
              <a:t>Bob o\\-- Alice </a:t>
            </a:r>
            <a:endParaRPr lang="ru-RU" dirty="0"/>
          </a:p>
          <a:p>
            <a:r>
              <a:rPr lang="en" dirty="0"/>
              <a:t>Bob &lt;-&gt; Alice </a:t>
            </a:r>
            <a:endParaRPr lang="ru-RU" dirty="0"/>
          </a:p>
          <a:p>
            <a:r>
              <a:rPr lang="en" dirty="0"/>
              <a:t>Bob &lt;-&gt;o Alice </a:t>
            </a:r>
            <a:endParaRPr lang="ru-RU" dirty="0"/>
          </a:p>
          <a:p>
            <a:r>
              <a:rPr lang="en" dirty="0"/>
              <a:t>@</a:t>
            </a:r>
            <a:r>
              <a:rPr lang="en" dirty="0" err="1"/>
              <a:t>enduml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C49F165-FBC9-0C45-8B08-E773A0AAF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3607" y="3493787"/>
            <a:ext cx="1574800" cy="311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8185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63135" y="0"/>
            <a:ext cx="10984675" cy="13876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ctr">
              <a:lnSpc>
                <a:spcPct val="107000"/>
              </a:lnSpc>
              <a:spcAft>
                <a:spcPts val="0"/>
              </a:spcAft>
            </a:pPr>
            <a:r>
              <a:rPr lang="ru-RU" sz="3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Диаграммы последовательностей: </a:t>
            </a: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Активация и деактивация линии существования</a:t>
            </a:r>
          </a:p>
          <a:p>
            <a:pPr indent="450215" algn="just">
              <a:lnSpc>
                <a:spcPct val="107000"/>
              </a:lnSpc>
              <a:spcAft>
                <a:spcPts val="0"/>
              </a:spcAft>
            </a:pPr>
            <a:endParaRPr lang="ru-RU" sz="32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046D67A-31D7-964D-AC18-385C746394FD}"/>
              </a:ext>
            </a:extLst>
          </p:cNvPr>
          <p:cNvSpPr/>
          <p:nvPr/>
        </p:nvSpPr>
        <p:spPr>
          <a:xfrm>
            <a:off x="1346521" y="1082249"/>
            <a:ext cx="971887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activate</a:t>
            </a:r>
            <a:r>
              <a:rPr lang="e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 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deactivate</a:t>
            </a:r>
            <a:r>
              <a:rPr lang="e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используются чтобы обозначить активацию участника.</a:t>
            </a:r>
          </a:p>
          <a:p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Линия существования появляется в момент активации участника.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activate</a:t>
            </a:r>
            <a:r>
              <a:rPr lang="e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 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deactivate</a:t>
            </a:r>
            <a:r>
              <a:rPr lang="e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применяются к предыдущему сообщению.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destroy</a:t>
            </a:r>
            <a:r>
              <a:rPr lang="e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обозначает конец линии существования участника.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D76A518-A2A0-F640-87CC-1A56DA17540B}"/>
              </a:ext>
            </a:extLst>
          </p:cNvPr>
          <p:cNvSpPr/>
          <p:nvPr/>
        </p:nvSpPr>
        <p:spPr>
          <a:xfrm>
            <a:off x="694481" y="2469937"/>
            <a:ext cx="8264324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@</a:t>
            </a:r>
            <a:r>
              <a:rPr lang="ru-RU" dirty="0" err="1"/>
              <a:t>startuml</a:t>
            </a:r>
            <a:endParaRPr lang="ru-RU" dirty="0"/>
          </a:p>
          <a:p>
            <a:r>
              <a:rPr lang="ru-RU" dirty="0" err="1"/>
              <a:t>participant</a:t>
            </a:r>
            <a:r>
              <a:rPr lang="ru-RU" dirty="0"/>
              <a:t> </a:t>
            </a:r>
            <a:r>
              <a:rPr lang="ru-RU" dirty="0" err="1"/>
              <a:t>User</a:t>
            </a:r>
            <a:endParaRPr lang="ru-RU" dirty="0"/>
          </a:p>
          <a:p>
            <a:r>
              <a:rPr lang="ru-RU" dirty="0" err="1"/>
              <a:t>User</a:t>
            </a:r>
            <a:r>
              <a:rPr lang="ru-RU" dirty="0"/>
              <a:t> -&gt; </a:t>
            </a:r>
            <a:r>
              <a:rPr lang="ru-RU" dirty="0" err="1"/>
              <a:t>A</a:t>
            </a:r>
            <a:r>
              <a:rPr lang="ru-RU" dirty="0"/>
              <a:t>: Сообщение1</a:t>
            </a:r>
          </a:p>
          <a:p>
            <a:r>
              <a:rPr lang="ru-RU" dirty="0" err="1"/>
              <a:t>activate</a:t>
            </a:r>
            <a:r>
              <a:rPr lang="ru-RU" dirty="0"/>
              <a:t> </a:t>
            </a:r>
            <a:r>
              <a:rPr lang="ru-RU" dirty="0" err="1"/>
              <a:t>A</a:t>
            </a:r>
            <a:endParaRPr lang="ru-RU" dirty="0"/>
          </a:p>
          <a:p>
            <a:r>
              <a:rPr lang="ru-RU" dirty="0" err="1"/>
              <a:t>A</a:t>
            </a:r>
            <a:r>
              <a:rPr lang="ru-RU" dirty="0"/>
              <a:t> -&gt; </a:t>
            </a:r>
            <a:r>
              <a:rPr lang="ru-RU" dirty="0" err="1"/>
              <a:t>B</a:t>
            </a:r>
            <a:r>
              <a:rPr lang="ru-RU" dirty="0"/>
              <a:t>: &lt;&lt; Сообщение2 &gt;&gt;</a:t>
            </a:r>
          </a:p>
          <a:p>
            <a:r>
              <a:rPr lang="ru-RU" dirty="0" err="1"/>
              <a:t>activate</a:t>
            </a:r>
            <a:r>
              <a:rPr lang="ru-RU" dirty="0"/>
              <a:t> </a:t>
            </a:r>
            <a:r>
              <a:rPr lang="ru-RU" dirty="0" err="1"/>
              <a:t>B</a:t>
            </a:r>
            <a:endParaRPr lang="ru-RU" dirty="0"/>
          </a:p>
          <a:p>
            <a:r>
              <a:rPr lang="ru-RU" dirty="0" err="1"/>
              <a:t>B</a:t>
            </a:r>
            <a:r>
              <a:rPr lang="ru-RU" dirty="0"/>
              <a:t> -&gt; </a:t>
            </a:r>
            <a:r>
              <a:rPr lang="ru-RU" dirty="0" err="1"/>
              <a:t>C</a:t>
            </a:r>
            <a:r>
              <a:rPr lang="ru-RU" dirty="0"/>
              <a:t>: Сообщение1</a:t>
            </a:r>
          </a:p>
          <a:p>
            <a:r>
              <a:rPr lang="ru-RU" dirty="0" err="1"/>
              <a:t>activate</a:t>
            </a:r>
            <a:r>
              <a:rPr lang="ru-RU" dirty="0"/>
              <a:t> </a:t>
            </a:r>
            <a:r>
              <a:rPr lang="ru-RU" dirty="0" err="1"/>
              <a:t>C</a:t>
            </a:r>
            <a:endParaRPr lang="ru-RU" dirty="0"/>
          </a:p>
          <a:p>
            <a:r>
              <a:rPr lang="ru-RU" dirty="0" err="1"/>
              <a:t>C</a:t>
            </a:r>
            <a:r>
              <a:rPr lang="ru-RU" dirty="0"/>
              <a:t> --&gt; </a:t>
            </a:r>
            <a:r>
              <a:rPr lang="ru-RU" dirty="0" err="1"/>
              <a:t>B</a:t>
            </a:r>
            <a:r>
              <a:rPr lang="ru-RU" dirty="0"/>
              <a:t>: Сообщение 3</a:t>
            </a:r>
          </a:p>
          <a:p>
            <a:r>
              <a:rPr lang="ru-RU" dirty="0" err="1"/>
              <a:t>destroy</a:t>
            </a:r>
            <a:r>
              <a:rPr lang="ru-RU" dirty="0"/>
              <a:t> </a:t>
            </a:r>
            <a:r>
              <a:rPr lang="ru-RU" dirty="0" err="1"/>
              <a:t>C</a:t>
            </a:r>
            <a:endParaRPr lang="ru-RU" dirty="0"/>
          </a:p>
          <a:p>
            <a:r>
              <a:rPr lang="ru-RU" dirty="0" err="1"/>
              <a:t>B</a:t>
            </a:r>
            <a:r>
              <a:rPr lang="ru-RU" dirty="0"/>
              <a:t> --&gt; </a:t>
            </a:r>
            <a:r>
              <a:rPr lang="ru-RU" dirty="0" err="1"/>
              <a:t>A</a:t>
            </a:r>
            <a:r>
              <a:rPr lang="ru-RU" dirty="0"/>
              <a:t>: Ответ</a:t>
            </a:r>
          </a:p>
          <a:p>
            <a:r>
              <a:rPr lang="ru-RU" dirty="0" err="1"/>
              <a:t>deactivate</a:t>
            </a:r>
            <a:r>
              <a:rPr lang="ru-RU" dirty="0"/>
              <a:t> </a:t>
            </a:r>
            <a:r>
              <a:rPr lang="ru-RU" dirty="0" err="1"/>
              <a:t>B</a:t>
            </a:r>
            <a:endParaRPr lang="ru-RU" dirty="0"/>
          </a:p>
          <a:p>
            <a:r>
              <a:rPr lang="ru-RU" dirty="0" err="1"/>
              <a:t>A</a:t>
            </a:r>
            <a:r>
              <a:rPr lang="ru-RU" dirty="0"/>
              <a:t> -&gt; </a:t>
            </a:r>
            <a:r>
              <a:rPr lang="ru-RU" dirty="0" err="1"/>
              <a:t>User</a:t>
            </a:r>
            <a:r>
              <a:rPr lang="ru-RU" dirty="0"/>
              <a:t>: Завершить</a:t>
            </a:r>
          </a:p>
          <a:p>
            <a:r>
              <a:rPr lang="ru-RU" dirty="0" err="1"/>
              <a:t>deactivate</a:t>
            </a:r>
            <a:r>
              <a:rPr lang="ru-RU" dirty="0"/>
              <a:t> </a:t>
            </a:r>
            <a:r>
              <a:rPr lang="ru-RU" dirty="0" err="1"/>
              <a:t>A</a:t>
            </a:r>
            <a:endParaRPr lang="ru-RU" dirty="0"/>
          </a:p>
          <a:p>
            <a:r>
              <a:rPr lang="ru-RU" dirty="0"/>
              <a:t>@</a:t>
            </a:r>
            <a:r>
              <a:rPr lang="ru-RU" dirty="0" err="1"/>
              <a:t>enduml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AFFD706-43E2-774D-B3F3-461D595F94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4762" y="2661374"/>
            <a:ext cx="5740400" cy="347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7646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700</TotalTime>
  <Words>1719</Words>
  <Application>Microsoft Office PowerPoint</Application>
  <PresentationFormat>Широкоэкранный</PresentationFormat>
  <Paragraphs>250</Paragraphs>
  <Slides>40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40</vt:i4>
      </vt:variant>
    </vt:vector>
  </HeadingPairs>
  <TitlesOfParts>
    <vt:vector size="49" baseType="lpstr">
      <vt:lpstr>Akrobat Bold</vt:lpstr>
      <vt:lpstr>Akrobat ExtraBold</vt:lpstr>
      <vt:lpstr>Arial</vt:lpstr>
      <vt:lpstr>Calibri</vt:lpstr>
      <vt:lpstr>Calibri Light</vt:lpstr>
      <vt:lpstr>Futura PT</vt:lpstr>
      <vt:lpstr>Times New Roman</vt:lpstr>
      <vt:lpstr>Wingdings</vt:lpstr>
      <vt:lpstr>Office Theme</vt:lpstr>
      <vt:lpstr>План</vt:lpstr>
      <vt:lpstr>UML</vt:lpstr>
      <vt:lpstr>Проектирование</vt:lpstr>
      <vt:lpstr>UML(Unified Modeling Language)</vt:lpstr>
      <vt:lpstr>Кто может использовать UML</vt:lpstr>
      <vt:lpstr>Плюсы</vt:lpstr>
      <vt:lpstr>Минусы</vt:lpstr>
      <vt:lpstr>Типы диаграмм</vt:lpstr>
      <vt:lpstr>Типы диаграмм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Диаграмма вариантов использования (Use Case Diagram)</vt:lpstr>
      <vt:lpstr>Пример Use Case Diagram</vt:lpstr>
      <vt:lpstr>Назначение диаграммы вариантов использования</vt:lpstr>
      <vt:lpstr>Прецеденты</vt:lpstr>
      <vt:lpstr>Основные обозначения на диаграмме вариантов использования</vt:lpstr>
      <vt:lpstr>Вариант использования (use case)</vt:lpstr>
      <vt:lpstr>Актер (actor)</vt:lpstr>
      <vt:lpstr>Презентация PowerPoint</vt:lpstr>
      <vt:lpstr>Отношения на диаграмме вариантов использования </vt:lpstr>
      <vt:lpstr>Отношение ассоциации </vt:lpstr>
      <vt:lpstr>Отношение включения </vt:lpstr>
      <vt:lpstr>Отношение расширения </vt:lpstr>
      <vt:lpstr>Отношение обобщения </vt:lpstr>
      <vt:lpstr>ПРАКТИКА</vt:lpstr>
      <vt:lpstr>Диаграммы последовательностей</vt:lpstr>
      <vt:lpstr>Линия жизни</vt:lpstr>
      <vt:lpstr>Сообщения</vt:lpstr>
      <vt:lpstr>Диаграмма последовательностей: типы сообщений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Пользователь Microsoft Office</dc:creator>
  <cp:lastModifiedBy>Boss</cp:lastModifiedBy>
  <cp:revision>51</cp:revision>
  <dcterms:created xsi:type="dcterms:W3CDTF">2020-08-09T20:41:48Z</dcterms:created>
  <dcterms:modified xsi:type="dcterms:W3CDTF">2025-01-16T05:35:37Z</dcterms:modified>
</cp:coreProperties>
</file>