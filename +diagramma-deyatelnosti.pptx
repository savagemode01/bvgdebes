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95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6858000" type="screen4x3"/>
  <p:notesSz cx="9942513" cy="6810375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90" y="49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268663" y="511175"/>
            <a:ext cx="3405187" cy="25542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94252" y="3234928"/>
            <a:ext cx="7954010" cy="3064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:notes"/>
          <p:cNvSpPr txBox="1">
            <a:spLocks noGrp="1"/>
          </p:cNvSpPr>
          <p:nvPr>
            <p:ph type="body" idx="1"/>
          </p:nvPr>
        </p:nvSpPr>
        <p:spPr>
          <a:xfrm>
            <a:off x="994252" y="3234928"/>
            <a:ext cx="7954010" cy="306466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8663" y="511175"/>
            <a:ext cx="3405187" cy="25542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:notes"/>
          <p:cNvSpPr txBox="1">
            <a:spLocks noGrp="1"/>
          </p:cNvSpPr>
          <p:nvPr>
            <p:ph type="body" idx="1"/>
          </p:nvPr>
        </p:nvSpPr>
        <p:spPr>
          <a:xfrm>
            <a:off x="994252" y="3234928"/>
            <a:ext cx="7954010" cy="306466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8663" y="511175"/>
            <a:ext cx="3405187" cy="25542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:notes"/>
          <p:cNvSpPr txBox="1">
            <a:spLocks noGrp="1"/>
          </p:cNvSpPr>
          <p:nvPr>
            <p:ph type="body" idx="1"/>
          </p:nvPr>
        </p:nvSpPr>
        <p:spPr>
          <a:xfrm>
            <a:off x="994252" y="3234928"/>
            <a:ext cx="7954010" cy="306466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8663" y="511175"/>
            <a:ext cx="3405187" cy="25542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:notes"/>
          <p:cNvSpPr txBox="1">
            <a:spLocks noGrp="1"/>
          </p:cNvSpPr>
          <p:nvPr>
            <p:ph type="body" idx="1"/>
          </p:nvPr>
        </p:nvSpPr>
        <p:spPr>
          <a:xfrm>
            <a:off x="994252" y="3234928"/>
            <a:ext cx="7954010" cy="306466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8663" y="511175"/>
            <a:ext cx="3405187" cy="25542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:notes"/>
          <p:cNvSpPr txBox="1">
            <a:spLocks noGrp="1"/>
          </p:cNvSpPr>
          <p:nvPr>
            <p:ph type="body" idx="1"/>
          </p:nvPr>
        </p:nvSpPr>
        <p:spPr>
          <a:xfrm>
            <a:off x="994252" y="3234928"/>
            <a:ext cx="7954010" cy="306466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8663" y="511175"/>
            <a:ext cx="3405187" cy="25542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:notes"/>
          <p:cNvSpPr txBox="1">
            <a:spLocks noGrp="1"/>
          </p:cNvSpPr>
          <p:nvPr>
            <p:ph type="body" idx="1"/>
          </p:nvPr>
        </p:nvSpPr>
        <p:spPr>
          <a:xfrm>
            <a:off x="994252" y="3234928"/>
            <a:ext cx="7954010" cy="306466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8663" y="511175"/>
            <a:ext cx="3405187" cy="25542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:notes"/>
          <p:cNvSpPr txBox="1">
            <a:spLocks noGrp="1"/>
          </p:cNvSpPr>
          <p:nvPr>
            <p:ph type="body" idx="1"/>
          </p:nvPr>
        </p:nvSpPr>
        <p:spPr>
          <a:xfrm>
            <a:off x="994252" y="3234928"/>
            <a:ext cx="7954010" cy="306466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8663" y="511175"/>
            <a:ext cx="3405187" cy="25542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8:notes"/>
          <p:cNvSpPr txBox="1">
            <a:spLocks noGrp="1"/>
          </p:cNvSpPr>
          <p:nvPr>
            <p:ph type="body" idx="1"/>
          </p:nvPr>
        </p:nvSpPr>
        <p:spPr>
          <a:xfrm>
            <a:off x="994252" y="3234928"/>
            <a:ext cx="7954010" cy="306466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8663" y="511175"/>
            <a:ext cx="3405187" cy="25542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9:notes"/>
          <p:cNvSpPr txBox="1">
            <a:spLocks noGrp="1"/>
          </p:cNvSpPr>
          <p:nvPr>
            <p:ph type="body" idx="1"/>
          </p:nvPr>
        </p:nvSpPr>
        <p:spPr>
          <a:xfrm>
            <a:off x="994252" y="3234928"/>
            <a:ext cx="7954010" cy="306466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8663" y="511175"/>
            <a:ext cx="3405187" cy="25542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0:notes"/>
          <p:cNvSpPr txBox="1">
            <a:spLocks noGrp="1"/>
          </p:cNvSpPr>
          <p:nvPr>
            <p:ph type="body" idx="1"/>
          </p:nvPr>
        </p:nvSpPr>
        <p:spPr>
          <a:xfrm>
            <a:off x="994252" y="3234928"/>
            <a:ext cx="7954010" cy="306466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8663" y="511175"/>
            <a:ext cx="3405187" cy="25542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1:notes"/>
          <p:cNvSpPr txBox="1">
            <a:spLocks noGrp="1"/>
          </p:cNvSpPr>
          <p:nvPr>
            <p:ph type="body" idx="1"/>
          </p:nvPr>
        </p:nvSpPr>
        <p:spPr>
          <a:xfrm>
            <a:off x="994252" y="3234928"/>
            <a:ext cx="7954010" cy="306466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8663" y="511175"/>
            <a:ext cx="3405187" cy="25542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2:notes"/>
          <p:cNvSpPr txBox="1">
            <a:spLocks noGrp="1"/>
          </p:cNvSpPr>
          <p:nvPr>
            <p:ph type="body" idx="1"/>
          </p:nvPr>
        </p:nvSpPr>
        <p:spPr>
          <a:xfrm>
            <a:off x="994252" y="3234928"/>
            <a:ext cx="7954010" cy="306466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8663" y="511175"/>
            <a:ext cx="3405187" cy="25542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3:notes"/>
          <p:cNvSpPr txBox="1">
            <a:spLocks noGrp="1"/>
          </p:cNvSpPr>
          <p:nvPr>
            <p:ph type="body" idx="1"/>
          </p:nvPr>
        </p:nvSpPr>
        <p:spPr>
          <a:xfrm>
            <a:off x="994252" y="3234928"/>
            <a:ext cx="7954010" cy="306466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8663" y="511175"/>
            <a:ext cx="3405187" cy="25542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4:notes"/>
          <p:cNvSpPr txBox="1">
            <a:spLocks noGrp="1"/>
          </p:cNvSpPr>
          <p:nvPr>
            <p:ph type="body" idx="1"/>
          </p:nvPr>
        </p:nvSpPr>
        <p:spPr>
          <a:xfrm>
            <a:off x="994252" y="3234928"/>
            <a:ext cx="7954010" cy="306466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8663" y="511175"/>
            <a:ext cx="3405187" cy="25542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:notes"/>
          <p:cNvSpPr txBox="1">
            <a:spLocks noGrp="1"/>
          </p:cNvSpPr>
          <p:nvPr>
            <p:ph type="body" idx="1"/>
          </p:nvPr>
        </p:nvSpPr>
        <p:spPr>
          <a:xfrm>
            <a:off x="994252" y="3234928"/>
            <a:ext cx="7954010" cy="306466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8663" y="511175"/>
            <a:ext cx="3405187" cy="25542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6:notes"/>
          <p:cNvSpPr txBox="1">
            <a:spLocks noGrp="1"/>
          </p:cNvSpPr>
          <p:nvPr>
            <p:ph type="body" idx="1"/>
          </p:nvPr>
        </p:nvSpPr>
        <p:spPr>
          <a:xfrm>
            <a:off x="994252" y="3234928"/>
            <a:ext cx="7954010" cy="306466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8663" y="511175"/>
            <a:ext cx="3405187" cy="25542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7:notes"/>
          <p:cNvSpPr txBox="1">
            <a:spLocks noGrp="1"/>
          </p:cNvSpPr>
          <p:nvPr>
            <p:ph type="body" idx="1"/>
          </p:nvPr>
        </p:nvSpPr>
        <p:spPr>
          <a:xfrm>
            <a:off x="994252" y="3234928"/>
            <a:ext cx="7954010" cy="306466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8663" y="511175"/>
            <a:ext cx="3405187" cy="25542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8:notes"/>
          <p:cNvSpPr txBox="1">
            <a:spLocks noGrp="1"/>
          </p:cNvSpPr>
          <p:nvPr>
            <p:ph type="body" idx="1"/>
          </p:nvPr>
        </p:nvSpPr>
        <p:spPr>
          <a:xfrm>
            <a:off x="994252" y="3234928"/>
            <a:ext cx="7954010" cy="306466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8663" y="511175"/>
            <a:ext cx="3405187" cy="25542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9:notes"/>
          <p:cNvSpPr txBox="1">
            <a:spLocks noGrp="1"/>
          </p:cNvSpPr>
          <p:nvPr>
            <p:ph type="body" idx="1"/>
          </p:nvPr>
        </p:nvSpPr>
        <p:spPr>
          <a:xfrm>
            <a:off x="994252" y="3234928"/>
            <a:ext cx="7954010" cy="306466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268663" y="511175"/>
            <a:ext cx="3405187" cy="25542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22B88E-DCCB-459B-81F1-488627D3AA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8F6ECB7-7E78-48BB-A575-C96436F928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D2BAACF-DA69-4A21-9C77-E37DECCD7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FFCCB84-8A91-4938-87DA-7F3AB0348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E93A144-3961-4A3E-ACB7-9010996BB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91378678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B41E09-CCBE-481D-A8B2-29E781DE3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56298E8-549F-46A9-A0F1-BD7C97862E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29C8FC0-6F31-438E-8826-7354D214C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2AD7E4E-2681-4CB6-88C9-728C8D9BE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AA68438-A670-4FDE-B453-42164F75E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6297369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54F2D8-6624-426B-83A8-A89FBCE29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BB827A4-CE4C-4AFC-AD9F-987DBB9722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A1DF066-6B07-4D20-ABA7-86ED9BFCA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C09C43D-C0D0-438F-8E8E-CD07A380A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03342F4-02FE-4265-A388-E03815B2E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0527556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0E2D6D-A0F2-4F43-BDDF-41FC0E8CD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4531B6E-58C6-447B-8990-980CD80DEA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0F04C9D-890D-4424-B3F3-9127BF58A1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D3F3615-C13C-49FE-96A3-1176F1D22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AB94580-7B35-4307-BAA2-23525AD28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F3434E6-9326-4EAF-8082-DE43D328B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2989650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02DC8D-3033-43F9-8124-087418E72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DD48987-622A-49F5-9CAE-C1F78CE252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C38D31C-B2B0-425E-939E-4105139E53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F5610CA-7A71-48BC-B52A-FA7EC64329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ACE7543-D36E-44CC-9466-6934AF02CB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11B7418-DEBD-47C7-A468-8D19318FF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4FE1E9A-853E-41AF-8BDE-8430180A0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C98E82B-0B85-4B44-8953-345846289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7712843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3977FF-F267-4DA5-893D-4C102CE6E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66F7AC2-8459-4732-9852-C0476DA3A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532B1F8-F242-4834-84AF-337A64533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3E658DC-D15C-4FDE-AA65-2E7EB783C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3072888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9EAAFC1-2F60-44B1-90EE-6F0A387A5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611B2CB-F66A-451D-AF95-B7B43B7DB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3F75A36-1429-4F4C-ADD0-45AD98B1C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7359907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6453FA-DE86-4471-A6FC-B256A00A7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1804C4C-7CF2-448D-81D7-F8C732F28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7D94481-4486-4915-A462-563A2BAF4D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43B4A71-427D-4E68-9CC9-571BAB5B7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9AA9B37-5EC8-4006-A221-1B3644AA0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FE9591A-9DAA-4458-804F-CF506E8A8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631312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AF18E1-0AD7-4CCA-87D5-BB6388270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D59A1EA-BF56-489A-B2B1-B013BB2F57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AC29566-0C60-4E8A-AB7E-FFBDB06B85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D2CC079-C7FD-45F7-93B6-0D6A0017C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4648F09-6958-45A2-A2A3-FD9E0B538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2CD6754-B0C0-4F1A-B5BB-FBFCEA1DF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2418494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4170BF-37FF-416A-9DFE-18E8303AD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F5979D8-DB53-4221-8DF9-737143ECD6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8CA21EF-F5BC-4817-8F5F-97FE6A41A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AC69D14-B19D-48AB-88DE-611746584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1A52CF7-F43D-4361-B280-8637109D6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7067578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2A67076-1CBF-40C0-AE63-7FD598EF92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D10094B-A038-4026-92DC-073356505B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D684468-5DF6-4670-A724-E9D7180ED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85717C-00A6-4DAF-AE67-6EC1411E9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F20B932-D718-4D46-B3B7-CE24DD4DC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1477418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 type="tx">
  <p:cSld name="Title and tex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●"/>
              <a:defRPr/>
            </a:lvl1pPr>
            <a:lvl2pPr marL="914400" lvl="1" indent="-33146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20"/>
              <a:buChar char="–"/>
              <a:defRPr/>
            </a:lvl2pPr>
            <a:lvl3pPr marL="1371600" lvl="2" indent="-29718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●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1422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A17105-149E-44FD-A825-60924CC8C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97C983E-7AF4-4330-8A2E-B11D3A90AA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832E2C2-A1C2-48CC-ACE1-9C5F942F70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CAC7D54-5B6E-48D5-815F-450D804A47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49414EC-6A7D-4FF6-8577-E74B54B9B6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564026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2"/>
            </a:gs>
            <a:gs pos="100000">
              <a:schemeClr val="lt1"/>
            </a:gs>
          </a:gsLst>
          <a:lin ang="10800000" scaled="0"/>
        </a:gradFill>
        <a:effectLst/>
      </p:bgPr>
    </p:bg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/>
        </p:nvSpPr>
        <p:spPr>
          <a:xfrm>
            <a:off x="457200" y="1143000"/>
            <a:ext cx="8001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Times New Roman"/>
              <a:buNone/>
            </a:pPr>
            <a:endParaRPr dirty="0"/>
          </a:p>
        </p:txBody>
      </p:sp>
      <p:sp>
        <p:nvSpPr>
          <p:cNvPr id="36" name="Google Shape;36;p4"/>
          <p:cNvSpPr txBox="1"/>
          <p:nvPr/>
        </p:nvSpPr>
        <p:spPr>
          <a:xfrm>
            <a:off x="685800" y="3124200"/>
            <a:ext cx="6629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D0221F45-300B-400B-A7D6-9574B0131E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4800" b="0" i="0" u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Диаграмма деятельности</a:t>
            </a:r>
            <a:br>
              <a:rPr lang="ru-RU" dirty="0"/>
            </a:br>
            <a:r>
              <a:rPr lang="en-US" dirty="0"/>
              <a:t>(</a:t>
            </a:r>
            <a:r>
              <a:rPr lang="en-US" sz="480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Activity diagram</a:t>
            </a:r>
            <a:r>
              <a:rPr lang="en-US" dirty="0"/>
              <a:t>)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2"/>
            </a:gs>
            <a:gs pos="100000">
              <a:schemeClr val="lt1"/>
            </a:gs>
          </a:gsLst>
          <a:lin ang="10800000" scaled="0"/>
        </a:gra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"/>
          <p:cNvSpPr txBox="1">
            <a:spLocks noGrp="1"/>
          </p:cNvSpPr>
          <p:nvPr>
            <p:ph type="title"/>
          </p:nvPr>
        </p:nvSpPr>
        <p:spPr>
          <a:xfrm>
            <a:off x="0" y="188912"/>
            <a:ext cx="9144000" cy="936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Назначение диаграммы деятельности</a:t>
            </a:r>
            <a:endParaRPr/>
          </a:p>
        </p:txBody>
      </p:sp>
      <p:sp>
        <p:nvSpPr>
          <p:cNvPr id="44" name="Google Shape;44;p5"/>
          <p:cNvSpPr txBox="1"/>
          <p:nvPr/>
        </p:nvSpPr>
        <p:spPr>
          <a:xfrm>
            <a:off x="468312" y="1916112"/>
            <a:ext cx="8351837" cy="33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ru-RU" sz="2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Для моделирования процесса выполнения операций используются </a:t>
            </a:r>
            <a:r>
              <a:rPr lang="ru-RU" sz="2400" b="0" i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диаграммы деятельности</a:t>
            </a:r>
            <a:r>
              <a:rPr lang="ru-RU" sz="2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lang="ru-RU" dirty="0"/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ru-RU" sz="24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Каждое состояние на диаграмме деятельности соответствует выполнению некоторой элементарной операции, а переход в следующее состояние срабатывает только при завершении этой операции в предыдущем состоянии.</a:t>
            </a:r>
            <a:endParaRPr lang="ru-RU" dirty="0"/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ru-RU" sz="2400" b="1" i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Диаграммы деятельности можно считать частным случаем диаграмм состояний</a:t>
            </a:r>
            <a:r>
              <a:rPr lang="en-US" sz="2400" b="1" i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2"/>
            </a:gs>
            <a:gs pos="100000">
              <a:schemeClr val="lt1"/>
            </a:gs>
          </a:gsLst>
          <a:lin ang="10800000" scaled="0"/>
        </a:grad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 txBox="1">
            <a:spLocks noGrp="1"/>
          </p:cNvSpPr>
          <p:nvPr>
            <p:ph type="title"/>
          </p:nvPr>
        </p:nvSpPr>
        <p:spPr>
          <a:xfrm>
            <a:off x="0" y="188912"/>
            <a:ext cx="9144000" cy="936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Назначение диаграммы деятельности</a:t>
            </a:r>
            <a:endParaRPr/>
          </a:p>
        </p:txBody>
      </p:sp>
      <p:sp>
        <p:nvSpPr>
          <p:cNvPr id="50" name="Google Shape;50;p6"/>
          <p:cNvSpPr txBox="1"/>
          <p:nvPr/>
        </p:nvSpPr>
        <p:spPr>
          <a:xfrm>
            <a:off x="468312" y="1844675"/>
            <a:ext cx="8351837" cy="3013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 языке UML </a:t>
            </a:r>
            <a:r>
              <a:rPr lang="en-US" sz="24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деятельность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(activity) – совокупность отдельных вычислений, выполняемых автоматом.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Отдельные элементарные вычисления могут приводить к некоторому результату или действию (action).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 диаграмме деятельности отображается логика или последовательность перехода от одной деятельности к другой.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2"/>
            </a:gs>
            <a:gs pos="100000">
              <a:schemeClr val="lt1"/>
            </a:gs>
          </a:gsLst>
          <a:lin ang="10800000" scaled="0"/>
        </a:gra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>
            <a:spLocks noGrp="1"/>
          </p:cNvSpPr>
          <p:nvPr>
            <p:ph type="title"/>
          </p:nvPr>
        </p:nvSpPr>
        <p:spPr>
          <a:xfrm>
            <a:off x="755650" y="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Состояние действия</a:t>
            </a:r>
            <a:endParaRPr/>
          </a:p>
        </p:txBody>
      </p:sp>
      <p:pic>
        <p:nvPicPr>
          <p:cNvPr id="57" name="Google Shape;57;p7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979612" y="4652962"/>
            <a:ext cx="5081587" cy="928687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7"/>
          <p:cNvSpPr txBox="1"/>
          <p:nvPr/>
        </p:nvSpPr>
        <p:spPr>
          <a:xfrm>
            <a:off x="611187" y="1341437"/>
            <a:ext cx="7991475" cy="3013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Состояние действия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(action state) – специальный случай состояния с некоторым входным действием и по крайней мере одним выходящим из состояния переходом.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Использование состояния действия заключается в моделировании одного шага выполнения алгоритма или потока управления.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Графически состояние действия изображается так: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2"/>
            </a:gs>
            <a:gs pos="100000">
              <a:schemeClr val="lt1"/>
            </a:gs>
          </a:gsLst>
          <a:lin ang="10800000" scaled="0"/>
        </a:gra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8"/>
          <p:cNvSpPr txBox="1">
            <a:spLocks noGrp="1"/>
          </p:cNvSpPr>
          <p:nvPr>
            <p:ph type="title"/>
          </p:nvPr>
        </p:nvSpPr>
        <p:spPr>
          <a:xfrm>
            <a:off x="755650" y="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Состояние действия</a:t>
            </a:r>
            <a:endParaRPr/>
          </a:p>
        </p:txBody>
      </p:sp>
      <p:sp>
        <p:nvSpPr>
          <p:cNvPr id="63" name="Google Shape;63;p8"/>
          <p:cNvSpPr txBox="1"/>
          <p:nvPr/>
        </p:nvSpPr>
        <p:spPr>
          <a:xfrm>
            <a:off x="611187" y="1484312"/>
            <a:ext cx="7921625" cy="3013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Действие может быть записано на естественном языке, некотором псевдокоде или языке программирования.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Каждая диаграмма деятельности должна иметь единственное начальное и единственное конечное состояния.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Диаграмму деятельности принято располагать так, чтобы действия следовали сверху вниз.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2"/>
            </a:gs>
            <a:gs pos="100000">
              <a:schemeClr val="lt1"/>
            </a:gs>
          </a:gsLst>
          <a:lin ang="10800000" scaled="0"/>
        </a:grad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9"/>
          <p:cNvSpPr txBox="1">
            <a:spLocks noGrp="1"/>
          </p:cNvSpPr>
          <p:nvPr>
            <p:ph type="title"/>
          </p:nvPr>
        </p:nvSpPr>
        <p:spPr>
          <a:xfrm>
            <a:off x="755650" y="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Переходы</a:t>
            </a:r>
            <a:endParaRPr/>
          </a:p>
        </p:txBody>
      </p:sp>
      <p:sp>
        <p:nvSpPr>
          <p:cNvPr id="69" name="Google Shape;69;p9"/>
          <p:cNvSpPr txBox="1"/>
          <p:nvPr/>
        </p:nvSpPr>
        <p:spPr>
          <a:xfrm>
            <a:off x="611187" y="1484312"/>
            <a:ext cx="7848600" cy="374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 построении диаграммы деятельности используются только </a:t>
            </a:r>
            <a:r>
              <a:rPr lang="en-US" sz="24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нетриггерные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переходы, т.е. такие, которые срабатывают сразу после завершения деятельности или выполнения соответствующего действия.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Этот переход переводит деятельность в последующее состояние сразу, как только закончится действие в предыдущем состоянии.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 диаграмме такой переход изображается сплошной линией со стрелкой.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2"/>
            </a:gs>
            <a:gs pos="100000">
              <a:schemeClr val="lt1"/>
            </a:gs>
          </a:gsLst>
          <a:lin ang="10800000" scaled="0"/>
        </a:gra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0"/>
          <p:cNvSpPr txBox="1">
            <a:spLocks noGrp="1"/>
          </p:cNvSpPr>
          <p:nvPr>
            <p:ph type="title"/>
          </p:nvPr>
        </p:nvSpPr>
        <p:spPr>
          <a:xfrm>
            <a:off x="755650" y="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Переходы</a:t>
            </a:r>
            <a:endParaRPr/>
          </a:p>
        </p:txBody>
      </p:sp>
      <p:sp>
        <p:nvSpPr>
          <p:cNvPr id="75" name="Google Shape;75;p10"/>
          <p:cNvSpPr txBox="1"/>
          <p:nvPr/>
        </p:nvSpPr>
        <p:spPr>
          <a:xfrm>
            <a:off x="611187" y="1484312"/>
            <a:ext cx="7777162" cy="33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Если из состояния действия выходит единственный переход, то он может не помечаться.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Если же таких переходов несколько, то сработать может только один из них – для каждого из таких переходов должно быть явно записано сторожевое условие в прямых скобках.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Такая ситуация получила название ветвления, а для ее обозначения применяется специальный символ.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2"/>
            </a:gs>
            <a:gs pos="100000">
              <a:schemeClr val="lt1"/>
            </a:gs>
          </a:gsLst>
          <a:lin ang="10800000" scaled="0"/>
        </a:gradFill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1"/>
          <p:cNvSpPr txBox="1">
            <a:spLocks noGrp="1"/>
          </p:cNvSpPr>
          <p:nvPr>
            <p:ph type="title"/>
          </p:nvPr>
        </p:nvSpPr>
        <p:spPr>
          <a:xfrm>
            <a:off x="755650" y="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Переходы</a:t>
            </a:r>
            <a:endParaRPr/>
          </a:p>
        </p:txBody>
      </p:sp>
      <p:sp>
        <p:nvSpPr>
          <p:cNvPr id="81" name="Google Shape;81;p11"/>
          <p:cNvSpPr txBox="1"/>
          <p:nvPr/>
        </p:nvSpPr>
        <p:spPr>
          <a:xfrm>
            <a:off x="611187" y="1412875"/>
            <a:ext cx="8064500" cy="374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Графически ветвление на диаграмме деятельности обозначается небольшим ромбом, внутри которого нет никакого текста.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 этот ромб может входить только одна стрелка от того состояния действия, после выполнения которого поток управления должен быть продолжен по одной из взаимно исключающих ветвей.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Принято входящую стрелку присоединять к верхней или левой вершине символа ветвления.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2"/>
            </a:gs>
            <a:gs pos="100000">
              <a:schemeClr val="lt1"/>
            </a:gs>
          </a:gsLst>
          <a:lin ang="10800000" scaled="0"/>
        </a:gra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2"/>
          <p:cNvSpPr txBox="1">
            <a:spLocks noGrp="1"/>
          </p:cNvSpPr>
          <p:nvPr>
            <p:ph type="title"/>
          </p:nvPr>
        </p:nvSpPr>
        <p:spPr>
          <a:xfrm>
            <a:off x="755650" y="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Переходы</a:t>
            </a:r>
            <a:endParaRPr/>
          </a:p>
        </p:txBody>
      </p:sp>
      <p:pic>
        <p:nvPicPr>
          <p:cNvPr id="88" name="Google Shape;88;p12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692275" y="1868487"/>
            <a:ext cx="5688012" cy="4779962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2"/>
          <p:cNvSpPr txBox="1"/>
          <p:nvPr/>
        </p:nvSpPr>
        <p:spPr>
          <a:xfrm>
            <a:off x="611187" y="1196975"/>
            <a:ext cx="77057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Пример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ветвления на диаграмме деятельности: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2"/>
            </a:gs>
            <a:gs pos="100000">
              <a:schemeClr val="lt1"/>
            </a:gs>
          </a:gsLst>
          <a:lin ang="10800000" scaled="0"/>
        </a:gra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 txBox="1">
            <a:spLocks noGrp="1"/>
          </p:cNvSpPr>
          <p:nvPr>
            <p:ph type="title"/>
          </p:nvPr>
        </p:nvSpPr>
        <p:spPr>
          <a:xfrm>
            <a:off x="755650" y="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Переходы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539750" y="1268412"/>
            <a:ext cx="8135937" cy="4291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Один из недостатков обычных блок-схем или структурных схем алгоритмов связан с проблемой изображения параллельных ветвей отдельных вычислений.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 языке UML для этой цели используется специальный символ для разделения и слияния параллельных вычислений или потоков управления.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Символ </a:t>
            </a:r>
            <a:r>
              <a:rPr lang="en-US" sz="24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разделения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(concurrent fork) имеет один входящий переход и несколько выходящих.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Слияние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(concurrent join) имеет несколько входящих переходов и один выходящий.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2"/>
            </a:gs>
            <a:gs pos="100000">
              <a:schemeClr val="lt1"/>
            </a:gs>
          </a:gsLst>
          <a:lin ang="10800000" scaled="0"/>
        </a:gra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 txBox="1">
            <a:spLocks noGrp="1"/>
          </p:cNvSpPr>
          <p:nvPr>
            <p:ph type="title"/>
          </p:nvPr>
        </p:nvSpPr>
        <p:spPr>
          <a:xfrm>
            <a:off x="755650" y="0"/>
            <a:ext cx="7772400" cy="836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Переходы</a:t>
            </a:r>
            <a:endParaRPr/>
          </a:p>
        </p:txBody>
      </p:sp>
      <p:pic>
        <p:nvPicPr>
          <p:cNvPr id="101" name="Google Shape;101;p14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3348037" y="1052512"/>
            <a:ext cx="5507037" cy="566102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179387" y="1052512"/>
            <a:ext cx="3313112" cy="1552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Пример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параллельных процессов на диаграмме деятельности: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2"/>
            </a:gs>
            <a:gs pos="100000">
              <a:schemeClr val="lt1"/>
            </a:gs>
          </a:gsLst>
          <a:lin ang="10800000" scaled="0"/>
        </a:gra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 txBox="1">
            <a:spLocks noGrp="1"/>
          </p:cNvSpPr>
          <p:nvPr>
            <p:ph type="title"/>
          </p:nvPr>
        </p:nvSpPr>
        <p:spPr>
          <a:xfrm>
            <a:off x="755650" y="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Дорожки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684212" y="1412875"/>
            <a:ext cx="7991475" cy="33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Диаграммы деятельности могут быть использованы не только для спецификации алгоритмов вычисления или потоков управления, но и для моделирования бизнес-процессов.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 этом случае действия желательно ассоциировать с конкретным подразделением компании.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 этом случае подразделение несет ответственность за реализацию отдельных действий.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2"/>
            </a:gs>
            <a:gs pos="100000">
              <a:schemeClr val="lt1"/>
            </a:gs>
          </a:gsLst>
          <a:lin ang="10800000" scaled="0"/>
        </a:gra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 txBox="1">
            <a:spLocks noGrp="1"/>
          </p:cNvSpPr>
          <p:nvPr>
            <p:ph type="title"/>
          </p:nvPr>
        </p:nvSpPr>
        <p:spPr>
          <a:xfrm>
            <a:off x="755650" y="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Дорожки</a:t>
            </a:r>
            <a:endParaRPr/>
          </a:p>
        </p:txBody>
      </p:sp>
      <p:pic>
        <p:nvPicPr>
          <p:cNvPr id="114" name="Google Shape;114;p16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476375" y="2708275"/>
            <a:ext cx="5938837" cy="2970212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6"/>
          <p:cNvSpPr txBox="1"/>
          <p:nvPr/>
        </p:nvSpPr>
        <p:spPr>
          <a:xfrm>
            <a:off x="539750" y="1125537"/>
            <a:ext cx="8135937" cy="1187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Для моделирования указанных особенностей в языке UML используется специальная конструкция – </a:t>
            </a:r>
            <a:r>
              <a:rPr lang="en-US" sz="24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дорожки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(swimlanes):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2"/>
            </a:gs>
            <a:gs pos="100000">
              <a:schemeClr val="lt1"/>
            </a:gs>
          </a:gsLst>
          <a:lin ang="10800000" scaled="0"/>
        </a:gra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 txBox="1">
            <a:spLocks noGrp="1"/>
          </p:cNvSpPr>
          <p:nvPr>
            <p:ph type="title"/>
          </p:nvPr>
        </p:nvSpPr>
        <p:spPr>
          <a:xfrm>
            <a:off x="755650" y="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Дорожки</a:t>
            </a:r>
            <a:endParaRPr/>
          </a:p>
        </p:txBody>
      </p:sp>
      <p:sp>
        <p:nvSpPr>
          <p:cNvPr id="120" name="Google Shape;120;p17"/>
          <p:cNvSpPr txBox="1"/>
          <p:nvPr/>
        </p:nvSpPr>
        <p:spPr>
          <a:xfrm>
            <a:off x="539750" y="1412875"/>
            <a:ext cx="8280400" cy="2647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Название подразделений явно указываются в верхней части дорожки.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Пересекать линию дорожки могут только переходы.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Порядок следования дорожек не несет какой-либо семантической информации и определяется соображениями удобства.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2"/>
            </a:gs>
            <a:gs pos="100000">
              <a:schemeClr val="lt1"/>
            </a:gs>
          </a:gsLst>
          <a:lin ang="10800000" scaled="0"/>
        </a:gra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8"/>
          <p:cNvSpPr txBox="1">
            <a:spLocks noGrp="1"/>
          </p:cNvSpPr>
          <p:nvPr>
            <p:ph type="title"/>
          </p:nvPr>
        </p:nvSpPr>
        <p:spPr>
          <a:xfrm>
            <a:off x="755650" y="0"/>
            <a:ext cx="7772400" cy="765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Дорожки</a:t>
            </a:r>
            <a:endParaRPr/>
          </a:p>
        </p:txBody>
      </p:sp>
      <p:pic>
        <p:nvPicPr>
          <p:cNvPr id="127" name="Google Shape;127;p18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tretch/>
        </p:blipFill>
        <p:spPr>
          <a:xfrm>
            <a:off x="755650" y="1730375"/>
            <a:ext cx="7254031" cy="5127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8"/>
          <p:cNvSpPr txBox="1"/>
          <p:nvPr/>
        </p:nvSpPr>
        <p:spPr>
          <a:xfrm>
            <a:off x="468312" y="908050"/>
            <a:ext cx="8280400" cy="822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Пример фрагмента диаграммы деятельности торговой компании: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2"/>
            </a:gs>
            <a:gs pos="100000">
              <a:schemeClr val="lt1"/>
            </a:gs>
          </a:gsLst>
          <a:lin ang="10800000" scaled="0"/>
        </a:gra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9"/>
          <p:cNvSpPr txBox="1">
            <a:spLocks noGrp="1"/>
          </p:cNvSpPr>
          <p:nvPr>
            <p:ph type="title"/>
          </p:nvPr>
        </p:nvSpPr>
        <p:spPr>
          <a:xfrm>
            <a:off x="755650" y="0"/>
            <a:ext cx="7772400" cy="765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Объекты</a:t>
            </a:r>
            <a:endParaRPr/>
          </a:p>
        </p:txBody>
      </p:sp>
      <p:sp>
        <p:nvSpPr>
          <p:cNvPr id="133" name="Google Shape;133;p19"/>
          <p:cNvSpPr txBox="1"/>
          <p:nvPr/>
        </p:nvSpPr>
        <p:spPr>
          <a:xfrm>
            <a:off x="539750" y="1341437"/>
            <a:ext cx="7848600" cy="4656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Действия на диаграмме деятельности выполняются над теми или иными объектами. Эти объекты либо инициируют выполнение действий, либо определяют некоторый результат этих действий.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Для графического представления объектов используется прямоугольник класса.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После имени может указываться характеристика состояния объекта в прямых скобках.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Объекты присоединяются к состояниям действия отношением зависимости пунктирной линией со стрелкой.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2"/>
            </a:gs>
            <a:gs pos="100000">
              <a:schemeClr val="lt1"/>
            </a:gs>
          </a:gsLst>
          <a:lin ang="10800000" scaled="0"/>
        </a:gra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0"/>
          <p:cNvSpPr txBox="1">
            <a:spLocks noGrp="1"/>
          </p:cNvSpPr>
          <p:nvPr>
            <p:ph type="title"/>
          </p:nvPr>
        </p:nvSpPr>
        <p:spPr>
          <a:xfrm>
            <a:off x="755650" y="0"/>
            <a:ext cx="7772400" cy="765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Объекты</a:t>
            </a:r>
            <a:endParaRPr/>
          </a:p>
        </p:txBody>
      </p:sp>
      <p:sp>
        <p:nvSpPr>
          <p:cNvPr id="139" name="Google Shape;139;p20"/>
          <p:cNvSpPr txBox="1"/>
          <p:nvPr/>
        </p:nvSpPr>
        <p:spPr>
          <a:xfrm>
            <a:off x="611187" y="1628775"/>
            <a:ext cx="8208962" cy="374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 диаграмме деятельности с дорожками расположение объекта может иметь дополнительный смысл.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Если объект расположен на границе двух дорожек, то это может означать, что переход к следующему состоянию действия в соседней дорожке связан с готовностью некоторого документа.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Если объект целиком расположен внутри дорожки, то и состояние этого объекта целиком определяется действиями данной дорожки.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2"/>
            </a:gs>
            <a:gs pos="100000">
              <a:schemeClr val="lt1"/>
            </a:gs>
          </a:gsLst>
          <a:lin ang="10800000" scaled="0"/>
        </a:grad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1"/>
          <p:cNvSpPr txBox="1">
            <a:spLocks noGrp="1"/>
          </p:cNvSpPr>
          <p:nvPr>
            <p:ph type="title"/>
          </p:nvPr>
        </p:nvSpPr>
        <p:spPr>
          <a:xfrm>
            <a:off x="755650" y="0"/>
            <a:ext cx="7772400" cy="765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Объекты</a:t>
            </a:r>
            <a:endParaRPr/>
          </a:p>
        </p:txBody>
      </p:sp>
      <p:pic>
        <p:nvPicPr>
          <p:cNvPr id="146" name="Google Shape;146;p21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187450" y="1412875"/>
            <a:ext cx="6408737" cy="5195887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1"/>
          <p:cNvSpPr txBox="1"/>
          <p:nvPr/>
        </p:nvSpPr>
        <p:spPr>
          <a:xfrm>
            <a:off x="539750" y="836612"/>
            <a:ext cx="83534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Модифицированный пример с торговой компанией: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2"/>
            </a:gs>
            <a:gs pos="100000">
              <a:schemeClr val="lt1"/>
            </a:gs>
          </a:gsLst>
          <a:lin ang="10800000" scaled="0"/>
        </a:gra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2"/>
          <p:cNvSpPr txBox="1">
            <a:spLocks noGrp="1"/>
          </p:cNvSpPr>
          <p:nvPr>
            <p:ph type="title"/>
          </p:nvPr>
        </p:nvSpPr>
        <p:spPr>
          <a:xfrm>
            <a:off x="755650" y="188912"/>
            <a:ext cx="7772400" cy="1052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Рекомендации по построению диаграмм деятельности</a:t>
            </a:r>
            <a:endParaRPr/>
          </a:p>
        </p:txBody>
      </p:sp>
      <p:sp>
        <p:nvSpPr>
          <p:cNvPr id="152" name="Google Shape;152;p22"/>
          <p:cNvSpPr txBox="1"/>
          <p:nvPr/>
        </p:nvSpPr>
        <p:spPr>
          <a:xfrm>
            <a:off x="539750" y="1916112"/>
            <a:ext cx="8135937" cy="2830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Диаграмма деятельности строится для отдельного класса, варианта использования, отдельной операции класса или целой подсистемы.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 начальных этапах проектирования построение диаграммы деятельности начинают с выделения под-деятельностей, которые в совокупности образуют деятельность подсистем.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1009</TotalTime>
  <Words>695</Words>
  <Application>Microsoft Office PowerPoint</Application>
  <PresentationFormat>Экран (4:3)</PresentationFormat>
  <Paragraphs>64</Paragraphs>
  <Slides>19</Slides>
  <Notes>19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Times New Roman</vt:lpstr>
      <vt:lpstr>Тема Office</vt:lpstr>
      <vt:lpstr>Диаграмма деятельности (Activity diagram)</vt:lpstr>
      <vt:lpstr>Назначение диаграммы деятельности</vt:lpstr>
      <vt:lpstr>Назначение диаграммы деятельности</vt:lpstr>
      <vt:lpstr>Состояние действия</vt:lpstr>
      <vt:lpstr>Состояние действия</vt:lpstr>
      <vt:lpstr>Переходы</vt:lpstr>
      <vt:lpstr>Переходы</vt:lpstr>
      <vt:lpstr>Переходы</vt:lpstr>
      <vt:lpstr>Переходы</vt:lpstr>
      <vt:lpstr>Переходы</vt:lpstr>
      <vt:lpstr>Переходы</vt:lpstr>
      <vt:lpstr>Дорожки</vt:lpstr>
      <vt:lpstr>Дорожки</vt:lpstr>
      <vt:lpstr>Дорожки</vt:lpstr>
      <vt:lpstr>Дорожки</vt:lpstr>
      <vt:lpstr>Объекты</vt:lpstr>
      <vt:lpstr>Объекты</vt:lpstr>
      <vt:lpstr>Объекты</vt:lpstr>
      <vt:lpstr>Рекомендации по построению диаграмм деятельности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Boss</dc:creator>
  <cp:lastModifiedBy>Boss</cp:lastModifiedBy>
  <cp:revision>4</cp:revision>
  <cp:lastPrinted>2023-11-18T00:57:53Z</cp:lastPrinted>
  <dcterms:modified xsi:type="dcterms:W3CDTF">2023-11-18T04:03:08Z</dcterms:modified>
</cp:coreProperties>
</file>